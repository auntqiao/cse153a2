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6a215e07764b4b" /><Relationship Type="http://schemas.openxmlformats.org/officeDocument/2006/relationships/extended-properties" Target="/docProps/app.xml" Id="R1e15018f687448ed" /><Relationship Type="http://schemas.openxmlformats.org/officeDocument/2006/relationships/officeDocument" Target="/ppt/presentation.xml" Id="Rd1ce15067d4745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30af75816746b9"/>
  </p:sldMasterIdLst>
  <p:notesMasterIdLst>
    <p:notesMasterId xmlns:r="http://schemas.openxmlformats.org/officeDocument/2006/relationships" r:id="R6d2640c5f3e44d53"/>
  </p:notesMasterIdLst>
  <p:sldIdLst>
    <p:sldId xmlns:r="http://schemas.openxmlformats.org/officeDocument/2006/relationships" id="256" r:id="R9ad88a9dd5e9462a"/>
    <p:sldId xmlns:r="http://schemas.openxmlformats.org/officeDocument/2006/relationships" id="257" r:id="Ra52fe675790840ea"/>
    <p:sldId xmlns:r="http://schemas.openxmlformats.org/officeDocument/2006/relationships" id="258" r:id="Re1ffd8d40771471d"/>
    <p:sldId xmlns:r="http://schemas.openxmlformats.org/officeDocument/2006/relationships" id="259" r:id="R2bcd78dd2f114cbd"/>
    <p:sldId xmlns:r="http://schemas.openxmlformats.org/officeDocument/2006/relationships" id="260" r:id="R47dcbf571c0041bd"/>
    <p:sldId xmlns:r="http://schemas.openxmlformats.org/officeDocument/2006/relationships" id="261" r:id="Re08c14c518a948e2"/>
    <p:sldId xmlns:r="http://schemas.openxmlformats.org/officeDocument/2006/relationships" id="262" r:id="Rd94ccbe6e39344ef"/>
    <p:sldId xmlns:r="http://schemas.openxmlformats.org/officeDocument/2006/relationships" id="263" r:id="Rd87378e7c8144a3d"/>
    <p:sldId xmlns:r="http://schemas.openxmlformats.org/officeDocument/2006/relationships" id="264" r:id="R820d2ed681464550"/>
    <p:sldId xmlns:r="http://schemas.openxmlformats.org/officeDocument/2006/relationships" id="265" r:id="R3b4f77ca737f4da2"/>
    <p:sldId xmlns:r="http://schemas.openxmlformats.org/officeDocument/2006/relationships" id="266" r:id="Rbcd3abcb9c86440d"/>
    <p:sldId xmlns:r="http://schemas.openxmlformats.org/officeDocument/2006/relationships" id="267" r:id="Rd00bafff525840be"/>
    <p:sldId xmlns:r="http://schemas.openxmlformats.org/officeDocument/2006/relationships" id="268" r:id="Rf24d300bce3f4ad0"/>
    <p:sldId xmlns:r="http://schemas.openxmlformats.org/officeDocument/2006/relationships" id="269" r:id="R6930965c91c04e63"/>
    <p:sldId xmlns:r="http://schemas.openxmlformats.org/officeDocument/2006/relationships" id="270" r:id="R0c261fbf3b784949"/>
    <p:sldId xmlns:r="http://schemas.openxmlformats.org/officeDocument/2006/relationships" id="271" r:id="R0ef0e73cdbb145e7"/>
    <p:sldId xmlns:r="http://schemas.openxmlformats.org/officeDocument/2006/relationships" id="272" r:id="R8a5feabe9fb44f64"/>
    <p:sldId xmlns:r="http://schemas.openxmlformats.org/officeDocument/2006/relationships" id="273" r:id="Ra8b41fa5f9f74b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30af75816746b9" /><Relationship Type="http://schemas.openxmlformats.org/officeDocument/2006/relationships/theme" Target="/ppt/theme/theme1.xml" Id="R41db5fa50e304383" /><Relationship Type="http://schemas.openxmlformats.org/officeDocument/2006/relationships/notesMaster" Target="/ppt/notesMasters/notesMaster1.xml" Id="R6d2640c5f3e44d53" /><Relationship Type="http://schemas.openxmlformats.org/officeDocument/2006/relationships/presProps" Target="/ppt/presProps.xml" Id="R9ee628a06b884238" /><Relationship Type="http://schemas.openxmlformats.org/officeDocument/2006/relationships/viewProps" Target="/ppt/viewProps.xml" Id="R56436b4e66dd4499" /><Relationship Type="http://schemas.openxmlformats.org/officeDocument/2006/relationships/tableStyles" Target="/ppt/tableStyles.xml" Id="R11802d8255a94023" /><Relationship Type="http://schemas.openxmlformats.org/officeDocument/2006/relationships/slide" Target="/ppt/slides/slide1.xml" Id="R9ad88a9dd5e9462a" /><Relationship Type="http://schemas.openxmlformats.org/officeDocument/2006/relationships/slide" Target="/ppt/slides/slide2.xml" Id="Ra52fe675790840ea" /><Relationship Type="http://schemas.openxmlformats.org/officeDocument/2006/relationships/slide" Target="/ppt/slides/slide3.xml" Id="Re1ffd8d40771471d" /><Relationship Type="http://schemas.openxmlformats.org/officeDocument/2006/relationships/slide" Target="/ppt/slides/slide4.xml" Id="R2bcd78dd2f114cbd" /><Relationship Type="http://schemas.openxmlformats.org/officeDocument/2006/relationships/slide" Target="/ppt/slides/slide5.xml" Id="R47dcbf571c0041bd" /><Relationship Type="http://schemas.openxmlformats.org/officeDocument/2006/relationships/slide" Target="/ppt/slides/slide6.xml" Id="Re08c14c518a948e2" /><Relationship Type="http://schemas.openxmlformats.org/officeDocument/2006/relationships/slide" Target="/ppt/slides/slide7.xml" Id="Rd94ccbe6e39344ef" /><Relationship Type="http://schemas.openxmlformats.org/officeDocument/2006/relationships/slide" Target="/ppt/slides/slide8.xml" Id="Rd87378e7c8144a3d" /><Relationship Type="http://schemas.openxmlformats.org/officeDocument/2006/relationships/slide" Target="/ppt/slides/slide9.xml" Id="R820d2ed681464550" /><Relationship Type="http://schemas.openxmlformats.org/officeDocument/2006/relationships/slide" Target="/ppt/slides/slide10.xml" Id="R3b4f77ca737f4da2" /><Relationship Type="http://schemas.openxmlformats.org/officeDocument/2006/relationships/slide" Target="/ppt/slides/slide11.xml" Id="Rbcd3abcb9c86440d" /><Relationship Type="http://schemas.openxmlformats.org/officeDocument/2006/relationships/slide" Target="/ppt/slides/slide12.xml" Id="Rd00bafff525840be" /><Relationship Type="http://schemas.openxmlformats.org/officeDocument/2006/relationships/slide" Target="/ppt/slides/slide13.xml" Id="Rf24d300bce3f4ad0" /><Relationship Type="http://schemas.openxmlformats.org/officeDocument/2006/relationships/slide" Target="/ppt/slides/slide14.xml" Id="R6930965c91c04e63" /><Relationship Type="http://schemas.openxmlformats.org/officeDocument/2006/relationships/slide" Target="/ppt/slides/slide15.xml" Id="R0c261fbf3b784949" /><Relationship Type="http://schemas.openxmlformats.org/officeDocument/2006/relationships/slide" Target="/ppt/slides/slide16.xml" Id="R0ef0e73cdbb145e7" /><Relationship Type="http://schemas.openxmlformats.org/officeDocument/2006/relationships/slide" Target="/ppt/slides/slide17.xml" Id="R8a5feabe9fb44f64" /><Relationship Type="http://schemas.openxmlformats.org/officeDocument/2006/relationships/slide" Target="/ppt/slides/slide18.xml" Id="Ra8b41fa5f9f74b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3d512a310df45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f84dc14ef24bc8" /><Relationship Type="http://schemas.openxmlformats.org/officeDocument/2006/relationships/notesMaster" Target="/ppt/notesMasters/notesMaster1.xml" Id="R4127dcf7d06442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f7b5c8789e4850" /><Relationship Type="http://schemas.openxmlformats.org/officeDocument/2006/relationships/notesMaster" Target="/ppt/notesMasters/notesMaster1.xml" Id="R522bcda5bcf143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767f8f62ce4ab6" /><Relationship Type="http://schemas.openxmlformats.org/officeDocument/2006/relationships/notesMaster" Target="/ppt/notesMasters/notesMaster1.xml" Id="R8b032fe01b9b49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85dcc98fa34077" /><Relationship Type="http://schemas.openxmlformats.org/officeDocument/2006/relationships/notesMaster" Target="/ppt/notesMasters/notesMaster1.xml" Id="R92825db161ce47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f5601ea7734711" /><Relationship Type="http://schemas.openxmlformats.org/officeDocument/2006/relationships/notesMaster" Target="/ppt/notesMasters/notesMaster1.xml" Id="Re5bca8c64a1043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e30974779f4f9c" /><Relationship Type="http://schemas.openxmlformats.org/officeDocument/2006/relationships/notesMaster" Target="/ppt/notesMasters/notesMaster1.xml" Id="R6bada5682f7f46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577b37cff84cdc" /><Relationship Type="http://schemas.openxmlformats.org/officeDocument/2006/relationships/notesMaster" Target="/ppt/notesMasters/notesMaster1.xml" Id="R66600b25d2e64f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3f34b8cc694242" /><Relationship Type="http://schemas.openxmlformats.org/officeDocument/2006/relationships/notesMaster" Target="/ppt/notesMasters/notesMaster1.xml" Id="R6065d0de507648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19649959f74f1a" /><Relationship Type="http://schemas.openxmlformats.org/officeDocument/2006/relationships/notesMaster" Target="/ppt/notesMasters/notesMaster1.xml" Id="R9b3d70cad32849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b2a15874414475" /><Relationship Type="http://schemas.openxmlformats.org/officeDocument/2006/relationships/notesMaster" Target="/ppt/notesMasters/notesMaster1.xml" Id="R2c94d53e165946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0e36f409ae46df" /><Relationship Type="http://schemas.openxmlformats.org/officeDocument/2006/relationships/notesMaster" Target="/ppt/notesMasters/notesMaster1.xml" Id="Rd234ac312e564d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2543a5325442cb" /><Relationship Type="http://schemas.openxmlformats.org/officeDocument/2006/relationships/notesMaster" Target="/ppt/notesMasters/notesMaster1.xml" Id="R1237d8a7465142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a57348b2864a0a" /><Relationship Type="http://schemas.openxmlformats.org/officeDocument/2006/relationships/notesMaster" Target="/ppt/notesMasters/notesMaster1.xml" Id="R9c09acebb3654c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7a57bdcac24790" /><Relationship Type="http://schemas.openxmlformats.org/officeDocument/2006/relationships/notesMaster" Target="/ppt/notesMasters/notesMaster1.xml" Id="R7541073239ae457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e0e2e0165b40a2" /><Relationship Type="http://schemas.openxmlformats.org/officeDocument/2006/relationships/notesMaster" Target="/ppt/notesMasters/notesMaster1.xml" Id="R5c1d41e5e729498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656d93b6eed44a7" /><Relationship Type="http://schemas.openxmlformats.org/officeDocument/2006/relationships/notesMaster" Target="/ppt/notesMasters/notesMaster1.xml" Id="Rfc1d67644d8c46c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0770e9d81a94d69" /><Relationship Type="http://schemas.openxmlformats.org/officeDocument/2006/relationships/notesMaster" Target="/ppt/notesMasters/notesMaster1.xml" Id="Rb019ff083f134ba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cf19065263945d8" /><Relationship Type="http://schemas.openxmlformats.org/officeDocument/2006/relationships/notesMaster" Target="/ppt/notesMasters/notesMaster1.xml" Id="R8b7982728f4b40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0:00-0:40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 with the task and deliverables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Introduce this as CSE 153/253 Assignment 2: two symbolic music generation tasks trained from scratch on Nottingham folk tunes.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Point out that names are placeholders on this slide. Say the final submitted artifacts are workbook.html plus symbolic_unconditioned.mid and symbolic_conditioned.mid.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expectations: the video is structured to follow the peer-grading rubric, with music playback saved for the end if there is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0:40-1:35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Map the deck to the grading rubric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that the assignment asks for exploratory analysis, modeling, evaluation, and related work for each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 the dataset and model slides are shared because both tasks use the same symbolic pipeline, then the deck splits into Task 1 and Task 2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makes it easy for peer graders to connect the presentation to the notebook and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1:35-2:45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Summarize the project 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Walk left to right: Nottingham ABC files are parsed with music21, converted into symbolic tokens, split into train and validation sets, then used for GRU and trigram models.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Emphasize the difference between the tasks: Task 1 only predicts melody tokens, while Task 2 inserts chord tokens as conditioning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Both outputs are rendered as MIDI files so the final result can be heard.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2:45-4:00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dataset scale and shape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table first: there are 879 training tunes and 154 validation tunes in both views of the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conditioned representation has more tokens and a larger vocabulary because chord tokens are included before measures.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figures to show the dataset is mostly short folk tunes with a stable pitch range, which fits symbolic melody modeling.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4:00-5:10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the token representation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the concrete data example graders can compare to the notebook. Notes encode MIDI pitch and duration in sixteenth-note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CHORD tokens carry harmonic context and BAR tokens preserve measure boundaries.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Mention the source tune morris.abc::X15 and explain that the conditioned and unconditioned views share the same melody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5:10-6:25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why the GRU is the main 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Frame both tasks as next-token prediction. The GRU learns a hidden state over prior events; the trigram baseline only sees the previous two tokens.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Point out the model is intentionally modest: it trains from scratch on this dataset and is easier to explain than a transformer.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architecture code is small: embedding, two-layer GRU, and linear output layer.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6:25-7:35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Describe training behavior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training and validation losses drop quickly in the first few epochs and then flatten.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good for the assignment because it shows learning without requiring a large run. The final validation-train gaps are moderate, not evidence of total memorization.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Mention that both GRUs were trained for 12 epochs and the conditioned model's best validation epoch was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7:35-8:45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Compare against the baseline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clearest quantitative result is validation perplexity. The unconditioned GRU gets 7.424 vs 25.200 for the trigram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conditioned GRU gets 6.543 vs 28.991 for the trigram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 this supports the modeling choice: longer learned context is more useful than short local counts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8:45-9:40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Introduce Task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1 is symbolic unconditioned generation. At generation time the model receives only START and samples a full melody.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ML objective is cross-entropy next-token prediction, which estimates p(x_t | x_&lt;t).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good output should stay in a plausible register, avoid immediate loops, and have some rhythmic and pitch variety.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9:40-11:10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Evaluate Task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Start with the generated GRU row. It produces 158 notes, 14 unique pitches, and a pitch range of 66 to 83.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repeat rate is low at 0.065 and the large leap rate is 0.083, so the sample should be mostly stepwise.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limitation is duration diversity: the generated sample has 4 unique durations compared with 8 in the validation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11:10-12:05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Walk through Task 1 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this as the code walkthrough slide for Task 1. The loop keeps a hidden state and feeds the last sampled token back into the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code blocks END until the minimum note count is reached, then uses temperature and top-k sampling.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Tie this back to the generated MIDI file symbolic_unconditioned.mid.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12:05-13:00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Introduce Task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2 is symbolic conditioned generation. The model learns p(melody | chords) by seeing chord tokens before measures during training.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 generation time, the chord progression is supplied and the model samples melody events under each active chord.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extra evaluation question is whether generated notes align with the active chord while still sounding melodic.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13:00-14:00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chord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chord vocabulary is not uniform. G and D are the most common, followed by A, C, Em, and 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training split contains 81 unique chord tokens, while the validation split contains 42.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means conditioning is meaningful, but the model sees some chords much more often than others.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14:00-15:35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Evaluate Task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generated conditioned GRU sample has 63 notes and 16 chord tokens. Its chord-tone rate is 0.714.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n-gram baseline is close at 0.698, but the GRU has a much lower large leap rate: 0.048 vs 0.145.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per-chord bars carefully: G is strongest at 0.806, D is 0.706, while C and Em leave more non-chord tones or mismatches.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15:35-16:35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Walk through Task 2 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code is the main difference from Task 1. The sampler explicitly feeds a chord token, then samples melody tokens until a BAR.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model is not allowed to randomly generate new chord tokens in the melody segment.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 this to the chord-tone metric: the evaluator tracks the active chord and checks whether note pitch classes belong to the chord.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16:35-17:45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 related 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this concise. Nottingham is a standard symbolic folk-tune source, and this project uses the ABC representation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Eck and Schmidhuber show recurrent networks can learn musical temporal structure. Boulanger-Lewandowski et al. frame symbolic music as probabilistic sequence modeling.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Music Transformer is a stronger long-range model, but for this assignment the GRU is appropriate because it is trained from scratch and easy to audit.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17:45-18:45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State limitations and next steps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 honest about what the metrics do and do not prove. Perplexity measures held-out token prediction, not musical beauty.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Chord-tone rate is a sanity check, but non-chord tones can be musically correct as passing tones or suspensions.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Future work would add phrase-level structure, stronger conditioning controls, and subjective listening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18:45-19:45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Close and cue playback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Summarize the three takeaways: the tokenization supports both tasks, the GRU beats the trigram baseline, and the conditioned task shows measurable harmonic alignment.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Then cue the music files. Play symbolic_unconditioned.mid first, then symbolic_conditioned.mid if the recording still has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let playback push the total video past 21 minutes; the assignment says playback can be at the end in case graders have trouble with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3b034c8562437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773d768a69a42a1" /><Relationship Type="http://schemas.openxmlformats.org/officeDocument/2006/relationships/slideLayout" Target="/ppt/slideLayouts/slideLayout2.xml" Id="Rf0a33cab980540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a33cab980540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7c552c64754ee6" /><Relationship Type="http://schemas.openxmlformats.org/officeDocument/2006/relationships/notesSlide" Target="/ppt/notesSlides/notesSlide1.xml" Id="R6ff72d2a7ab844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febe1521544be7" /><Relationship Type="http://schemas.openxmlformats.org/officeDocument/2006/relationships/notesSlide" Target="/ppt/notesSlides/notesSlide2.xml" Id="R46029532104341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58f1b0216f4ffe" /><Relationship Type="http://schemas.openxmlformats.org/officeDocument/2006/relationships/notesSlide" Target="/ppt/notesSlides/notesSlide3.xml" Id="R770471ef810a48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1d4e007b2f49d6" /><Relationship Type="http://schemas.openxmlformats.org/officeDocument/2006/relationships/image" Target="/ppt/media/image.png" Id="R62d6a2bfe79e4da0" /><Relationship Type="http://schemas.openxmlformats.org/officeDocument/2006/relationships/image" Target="/ppt/media/image2.png" Id="Re9e593c2c00443bb" /><Relationship Type="http://schemas.openxmlformats.org/officeDocument/2006/relationships/notesSlide" Target="/ppt/notesSlides/notesSlide4.xml" Id="R1aaa6b6701674a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cf0916398d4eb3" /><Relationship Type="http://schemas.openxmlformats.org/officeDocument/2006/relationships/notesSlide" Target="/ppt/notesSlides/notesSlide5.xml" Id="Rfecf205ae2654c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f083063e494c26" /><Relationship Type="http://schemas.openxmlformats.org/officeDocument/2006/relationships/notesSlide" Target="/ppt/notesSlides/notesSlide6.xml" Id="Rdf952050d7e944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93dfa9d05c476a" /><Relationship Type="http://schemas.openxmlformats.org/officeDocument/2006/relationships/image" Target="/ppt/media/image3.png" Id="R4add8fb24198425f" /><Relationship Type="http://schemas.openxmlformats.org/officeDocument/2006/relationships/notesSlide" Target="/ppt/notesSlides/notesSlide7.xml" Id="Rc6a8d4d82ae740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8f8c75d32b4cff" /><Relationship Type="http://schemas.openxmlformats.org/officeDocument/2006/relationships/notesSlide" Target="/ppt/notesSlides/notesSlide8.xml" Id="R843d56d78a5d48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f585f64a6a481c" /><Relationship Type="http://schemas.openxmlformats.org/officeDocument/2006/relationships/notesSlide" Target="/ppt/notesSlides/notesSlide9.xml" Id="R0eda83d1e87d4b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5670b432c14540" /><Relationship Type="http://schemas.openxmlformats.org/officeDocument/2006/relationships/notesSlide" Target="/ppt/notesSlides/notesSlide10.xml" Id="R1c70ee8530ed4f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f5a36294ca4650" /><Relationship Type="http://schemas.openxmlformats.org/officeDocument/2006/relationships/notesSlide" Target="/ppt/notesSlides/notesSlide11.xml" Id="R22ccb27dd3d44d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d2a7a9e76e40da" /><Relationship Type="http://schemas.openxmlformats.org/officeDocument/2006/relationships/notesSlide" Target="/ppt/notesSlides/notesSlide12.xml" Id="R67068c2139794d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930496b0df4ccb" /><Relationship Type="http://schemas.openxmlformats.org/officeDocument/2006/relationships/image" Target="/ppt/media/image4.png" Id="R6dbe94c36cb94625" /><Relationship Type="http://schemas.openxmlformats.org/officeDocument/2006/relationships/notesSlide" Target="/ppt/notesSlides/notesSlide13.xml" Id="R4ae053842fe549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d8aae100454891" /><Relationship Type="http://schemas.openxmlformats.org/officeDocument/2006/relationships/notesSlide" Target="/ppt/notesSlides/notesSlide14.xml" Id="Ra141b53904d4421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7b2279c6be47ae" /><Relationship Type="http://schemas.openxmlformats.org/officeDocument/2006/relationships/notesSlide" Target="/ppt/notesSlides/notesSlide15.xml" Id="R107dd658ee15465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25e968074e40dc" /><Relationship Type="http://schemas.openxmlformats.org/officeDocument/2006/relationships/notesSlide" Target="/ppt/notesSlides/notesSlide16.xml" Id="Rbdc1a748b25a4d4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0807cbe8cf4725" /><Relationship Type="http://schemas.openxmlformats.org/officeDocument/2006/relationships/notesSlide" Target="/ppt/notesSlides/notesSlide17.xml" Id="Rd8f2ea252ebf40c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be1c96398f4e1e" /><Relationship Type="http://schemas.openxmlformats.org/officeDocument/2006/relationships/notesSlide" Target="/ppt/notesSlides/notesSlide18.xml" Id="R3ce914efef3d43a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578581-E3B4-4298-84C1-28089DD8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6"/>
          </a:solidFill>
          <a:ln xmlns:a="http://schemas.openxmlformats.org/drawingml/2006/main" w="0">
            <a:solidFill>
              <a:srgbClr val="14232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6DEAB-082D-485E-BB4D-D203C386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00322-ED26-44D2-84D2-B330DA52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9E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CE9E3"/>
                </a:solidFill>
                <a:latin typeface="Aptos"/>
                <a:ea typeface="Aptos"/>
                <a:cs typeface="Aptos"/>
              </a:rPr>
              <a:t>CSE 153/253 Assignment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749B7-9184-486E-BFC3-253B2ACF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9EC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9EC"/>
                </a:solidFill>
                <a:latin typeface="Aptos Display"/>
                <a:ea typeface="Aptos Display"/>
                <a:cs typeface="Aptos Display"/>
              </a:rPr>
              <a:t>Symbolic Music Generation</a:t>
            </a:r>
          </a:p>
          <a:p xmlns:a="http://schemas.openxmlformats.org/drawingml/2006/main">
            <a:pPr algn="l">
              <a:defRPr sz="3900" b="1">
                <a:solidFill>
                  <a:srgbClr val="FFF9EC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9EC"/>
                </a:solidFill>
                <a:latin typeface="Aptos Display"/>
                <a:ea typeface="Aptos Display"/>
                <a:cs typeface="Aptos Display"/>
              </a:rPr>
              <a:t>from Nottingham Folk Tunes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BA306-1681-4673-B004-2D484C2B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590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8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DE8E2"/>
                </a:solidFill>
                <a:latin typeface="Aptos"/>
                <a:ea typeface="Aptos"/>
                <a:cs typeface="Aptos"/>
              </a:rPr>
              <a:t>Task 1: unconditioned melody generation</a:t>
            </a:r>
          </a:p>
          <a:p xmlns:a="http://schemas.openxmlformats.org/drawingml/2006/main">
            <a:pPr algn="l">
              <a:defRPr sz="1650" b="0">
                <a:solidFill>
                  <a:srgbClr val="DDE8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DE8E2"/>
                </a:solidFill>
                <a:latin typeface="Aptos"/>
                <a:ea typeface="Aptos"/>
                <a:cs typeface="Aptos"/>
              </a:rPr>
              <a:t>Task 2: chord-conditioned melody generation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D9561-61DD-4E46-8AC6-E5931404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4191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032"/>
          </a:solidFill>
          <a:ln xmlns:a="http://schemas.openxmlformats.org/drawingml/2006/main" w="9525">
            <a:solidFill>
              <a:srgbClr val="3652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9A390-2E0F-44BC-B72F-B5407E1A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381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9E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9EC"/>
                </a:solidFill>
                <a:latin typeface="Aptos"/>
                <a:ea typeface="Aptos"/>
                <a:cs typeface="Aptos"/>
              </a:rPr>
              <a:t>Presented by: [Group member names]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71C8D-5477-436A-9251-73F89916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00100"/>
            <a:ext cx="3143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FFF9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FC4BD-339B-4B3A-A9DA-B58727A4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668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326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42326"/>
                </a:solidFill>
                <a:latin typeface="Aptos Display"/>
                <a:ea typeface="Aptos Display"/>
                <a:cs typeface="Aptos Display"/>
              </a:rPr>
              <a:t>Recording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6CDCB-EFBC-4DD4-ACD2-716207C9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EA508-2F4B-461C-BBC2-B6776A02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192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3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326"/>
                </a:solidFill>
                <a:latin typeface="Aptos"/>
                <a:ea typeface="Aptos"/>
                <a:cs typeface="Aptos"/>
              </a:rPr>
              <a:t>0-4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A10BF-6A16-4891-8196-E8871B7F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478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Setup, data, preprocessing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991F8-AC2F-4B83-B76C-845495EB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050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317438-AD38-4F50-A821-C12FDA1E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3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326"/>
                </a:solidFill>
                <a:latin typeface="Aptos"/>
                <a:ea typeface="Aptos"/>
                <a:cs typeface="Aptos"/>
              </a:rPr>
              <a:t>4-8:45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233A3D-5972-445D-8694-4CE94F45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384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Modeling and baseline proof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7388C-B877-4A6E-BEAD-14ACE454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4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3755F-3F70-4793-8244-0E333E81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03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3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326"/>
                </a:solidFill>
                <a:latin typeface="Aptos"/>
                <a:ea typeface="Aptos"/>
                <a:cs typeface="Aptos"/>
              </a:rPr>
              <a:t>8:45-12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EFD185-4E02-4693-833C-05015685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Task 1 walkthrough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FB7F4-149A-45A9-BF2C-48F31E1F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BC5EF5-D3DB-471C-B7FF-FCAA0FE2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909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3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326"/>
                </a:solidFill>
                <a:latin typeface="Aptos"/>
                <a:ea typeface="Aptos"/>
                <a:cs typeface="Aptos"/>
              </a:rPr>
              <a:t>12-16:35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98F7F1-B293-48F0-994A-F3647F22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195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Task 2 walkthrough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E1CDC4-EC86-4528-98A6-DEEA0865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7670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3778B3-C5D4-470D-8894-B9DD5DBE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814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3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326"/>
                </a:solidFill>
                <a:latin typeface="Aptos"/>
                <a:ea typeface="Aptos"/>
                <a:cs typeface="Aptos"/>
              </a:rPr>
              <a:t>16:35-19:45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BC3AC8-6C14-47E7-8E03-16A7C408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100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Related work, limits, close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39A376-7DA2-4B4E-993C-F5C6DDB1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Sources: assignment instructions, workbook.html, README.md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61B2D8-0AFF-4976-97AE-C8F54978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1/18</a:t>
            </a:r>
          </a:p>
        </p:txBody>
      </p:sp>
    </p:spTree>
    <p:extLst>
      <p:ext uri="{BB962C8B-B14F-4D97-AF65-F5344CB8AC3E}">
        <p14:creationId xmlns:p14="http://schemas.microsoft.com/office/powerpoint/2010/main" val="208159882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280BDC-47CC-4871-9692-2F787BBA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58ACE-8752-46C2-BAEF-59029865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CC4"/>
          </a:solidFill>
          <a:ln xmlns:a="http://schemas.openxmlformats.org/drawingml/2006/main" w="0">
            <a:solidFill>
              <a:srgbClr val="346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EA896-91D2-48A4-A624-C3AF1E0C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RUBRIC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4C2CF-DD86-4F5A-8DDC-BC001D89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The deck is structured around the four sections peer graders score.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7A516-28FC-4946-AD6E-9627CAA9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Sources: workbook.html, README.md, src/, figures/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7018D-7B45-4462-90CF-1D336E37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2/18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D599D-E229-495E-95E4-1C59859B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596FD-E701-49DB-B2E6-BD423E75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Exploratory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7AE5B-BD30-497F-9CA9-A8F01167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dataset origin</a:t>
            </a:r>
          </a:p>
          <a:p xmlns:a="http://schemas.openxmlformats.org/drawingml/2006/main">
            <a:pPr algn="l">
              <a:defRPr sz="127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preprocessing</a:t>
            </a:r>
          </a:p>
          <a:p xmlns:a="http://schemas.openxmlformats.org/drawingml/2006/main">
            <a:pPr algn="l">
              <a:defRPr sz="127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statistics and plots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05C81-1048-45C3-89E6-249122BE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706E"/>
                </a:solidFill>
                <a:latin typeface="Aptos"/>
                <a:ea typeface="Aptos"/>
                <a:cs typeface="Aptos"/>
              </a:rPr>
              <a:t>2 pts per task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2C068-C90F-49BD-BD3D-41D370CC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2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3DB91-F8D8-4F3A-98E5-B1BD17CE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383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Modeling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3E7DD-A2F7-428E-8AB4-A7D4B374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908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ML formulation</a:t>
            </a:r>
          </a:p>
          <a:p xmlns:a="http://schemas.openxmlformats.org/drawingml/2006/main">
            <a:pPr algn="l">
              <a:defRPr sz="127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model tradeoffs</a:t>
            </a:r>
          </a:p>
          <a:p xmlns:a="http://schemas.openxmlformats.org/drawingml/2006/main">
            <a:pPr algn="l">
              <a:defRPr sz="127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architecture/code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E67DE-F7DB-4212-B021-92EFD899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957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706E"/>
                </a:solidFill>
                <a:latin typeface="Aptos"/>
                <a:ea typeface="Aptos"/>
                <a:cs typeface="Aptos"/>
              </a:rPr>
              <a:t>2 pts per task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B1F9FD-A22A-4605-B82A-9EC9838B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3C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FC428-906A-479E-A291-95BC2F7B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Evaluation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AF3880-9533-4042-9ECC-2080F835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baselines</a:t>
            </a:r>
          </a:p>
          <a:p xmlns:a="http://schemas.openxmlformats.org/drawingml/2006/main">
            <a:pPr algn="l">
              <a:defRPr sz="127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perplexity</a:t>
            </a:r>
          </a:p>
          <a:p xmlns:a="http://schemas.openxmlformats.org/drawingml/2006/main">
            <a:pPr algn="l">
              <a:defRPr sz="127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musical sanity checks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37EA7C-72BC-47F6-84EB-7A2E86DB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706E"/>
                </a:solidFill>
                <a:latin typeface="Aptos"/>
                <a:ea typeface="Aptos"/>
                <a:cs typeface="Aptos"/>
              </a:rPr>
              <a:t>2 pts per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7E54FE-59DE-4862-82D2-6A441F24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FD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511FAF-1913-44FC-A315-29C39A5F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383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Related work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4F67CB-78F8-475B-937A-45D27929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908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Nottingham uses</a:t>
            </a:r>
          </a:p>
          <a:p xmlns:a="http://schemas.openxmlformats.org/drawingml/2006/main">
            <a:pPr algn="l">
              <a:defRPr sz="127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symbolic RNNs</a:t>
            </a:r>
          </a:p>
          <a:p xmlns:a="http://schemas.openxmlformats.org/drawingml/2006/main">
            <a:pPr algn="l">
              <a:defRPr sz="127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long-range models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86835D-DC30-4E0B-B73A-3D9003A7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957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706E"/>
                </a:solidFill>
                <a:latin typeface="Aptos"/>
                <a:ea typeface="Aptos"/>
                <a:cs typeface="Aptos"/>
              </a:rPr>
              <a:t>2 pts per task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8957FF-D1DF-48A6-BA1C-125930DE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0744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8D3C15-CD6D-4278-9717-49AE98E5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7A5B"/>
                </a:solidFill>
                <a:latin typeface="Aptos"/>
                <a:ea typeface="Aptos"/>
                <a:cs typeface="Aptos"/>
              </a:rPr>
              <a:t>Timing discipline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7CB3EE-72AA-4528-A018-CE3C1946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905375"/>
            <a:ext cx="7772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Slides target about 19:45 of narration. Music playback is queued after the rubric content and should not push the video beyond 21:00.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2AE46B-677D-443A-8C9B-F0B50EAA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777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Submission alignment: workbook.html + video_url.txt + symbolic_unconditioned.mid + symbolic_conditioned.mid.</a:t>
            </a:r>
          </a:p>
        </p:txBody>
      </p:sp>
    </p:spTree>
    <p:extLst>
      <p:ext uri="{BB962C8B-B14F-4D97-AF65-F5344CB8AC3E}">
        <p14:creationId xmlns:p14="http://schemas.microsoft.com/office/powerpoint/2010/main" val="15054299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4F564D-D10D-458A-891C-6AAA578E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6B5D4-80F6-4DF2-9A15-7E2BB480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F8791-9F21-4502-8ACA-4495998D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SYSTEM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BF898-66E8-4CFE-9DFC-0C419A9E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Both tasks share one symbolic pipeline, then diverge at conditioning.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9719B-C099-4612-8E59-4580391E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Sources: workbook.html, README.md, src/, figures/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53426-CCAD-41B6-8530-D29511AA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3/18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7F89C-AFA7-4E37-ADDC-9FEEACF5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1790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346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DE1C1-D1B5-4673-87C7-0919FCAB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CC4"/>
          </a:solidFill>
          <a:ln xmlns:a="http://schemas.openxmlformats.org/drawingml/2006/main" w="0">
            <a:solidFill>
              <a:srgbClr val="346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AAE78-ECB5-42A2-A614-22B5BCB2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346CC4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346CC4"/>
                </a:solidFill>
                <a:latin typeface="Aptos"/>
                <a:ea typeface="Aptos"/>
                <a:cs typeface="Aptos"/>
              </a:rPr>
              <a:t>Nottingham ABC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B8DD6-87B3-4054-BD66-1612D956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folk melodies</a:t>
            </a:r>
          </a:p>
          <a:p xmlns:a="http://schemas.openxmlformats.org/drawingml/2006/main">
            <a:pPr algn="l">
              <a:defRPr sz="938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with chord symbols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47351-FC41-4E41-B02D-983F257F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955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F7531-D743-4F28-AE5E-C1548587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57475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2F014-C0B5-4D81-91FD-0AF65290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76450"/>
            <a:ext cx="1790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1F7A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0896B-BFC5-4F4A-B40D-2E120032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764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2642F7-F6F6-4238-91F3-13B66E3A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288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F7A5B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F7A5B"/>
                </a:solidFill>
                <a:latin typeface="Aptos"/>
                <a:ea typeface="Aptos"/>
                <a:cs typeface="Aptos"/>
              </a:rPr>
              <a:t>music21 parse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F5C587-2CAE-4D01-88DD-392AC9DF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86025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first melody part</a:t>
            </a:r>
          </a:p>
          <a:p xmlns:a="http://schemas.openxmlformats.org/drawingml/2006/main">
            <a:pPr algn="l">
              <a:defRPr sz="938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measure-level chords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BFA2A-D12E-4F2C-9423-3BE6C1C2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55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8741F6-B663-4744-A52B-65CC1706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57475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3944F8-9DD4-4D38-91B6-78D391D3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76450"/>
            <a:ext cx="1790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B684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58F2CE-5186-4D47-959A-6DBEFA14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764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42E"/>
          </a:solidFill>
          <a:ln xmlns:a="http://schemas.openxmlformats.org/drawingml/2006/main" w="0">
            <a:solidFill>
              <a:srgbClr val="B6842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1DF5F-5C48-4D78-9622-C5744E66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288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B6842E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B6842E"/>
                </a:solidFill>
                <a:latin typeface="Aptos"/>
                <a:ea typeface="Aptos"/>
                <a:cs typeface="Aptos"/>
              </a:rPr>
              <a:t>Token streams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AB9C70-D266-4233-8491-1E9DC94C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86025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NOTE_pitch_duration</a:t>
            </a:r>
          </a:p>
          <a:p xmlns:a="http://schemas.openxmlformats.org/drawingml/2006/main">
            <a:pPr algn="l">
              <a:defRPr sz="938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REST, BAR, CHORD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79D713-EDF2-4B9A-B019-91415B08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55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8361A6-B37C-462E-9BF4-EE5A8EA8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57475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96DA91-4AC5-4772-8DA3-D0ABA632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1790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6574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52F2C3-175F-4F22-8038-501EC3E4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745"/>
          </a:solidFill>
          <a:ln xmlns:a="http://schemas.openxmlformats.org/drawingml/2006/main" w="0">
            <a:solidFill>
              <a:srgbClr val="C657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8C309E-3546-4DEB-B37B-2BE8FEBC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288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C65745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C65745"/>
                </a:solidFill>
                <a:latin typeface="Aptos"/>
                <a:ea typeface="Aptos"/>
                <a:cs typeface="Aptos"/>
              </a:rPr>
              <a:t>Models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889A60-BCC8-4F69-BBFF-6B664C0B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86025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trigram baseline</a:t>
            </a:r>
          </a:p>
          <a:p xmlns:a="http://schemas.openxmlformats.org/drawingml/2006/main">
            <a:pPr algn="l">
              <a:defRPr sz="938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GRU next-token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230209-19FB-4E8B-A5BC-C2A51819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955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421C77-2AFA-415F-8174-81A473AE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57475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21F83D-2DDA-4A29-9804-C1CDDC39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76450"/>
            <a:ext cx="1790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17202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CF2F45-EEC4-48CD-809C-D4C9C9FB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764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5"/>
          </a:solidFill>
          <a:ln xmlns:a="http://schemas.openxmlformats.org/drawingml/2006/main" w="0">
            <a:solidFill>
              <a:srgbClr val="17202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B6309F-F538-41F4-B33D-BAC28C78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288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MIDI outputs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9EC045-1716-4325-8C60-D072F39F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86025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unconditioned MIDI</a:t>
            </a:r>
          </a:p>
          <a:p xmlns:a="http://schemas.openxmlformats.org/drawingml/2006/main">
            <a:pPr algn="l">
              <a:defRPr sz="938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conditioned MIDI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44ADE2-9520-4C29-B5CC-F7C7F6A1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2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E1133E-B241-4E5A-9A3D-7F7C41E6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5B"/>
                </a:solidFill>
                <a:latin typeface="Aptos"/>
                <a:ea typeface="Aptos"/>
                <a:cs typeface="Aptos"/>
              </a:rPr>
              <a:t>Task 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D3A9AC-FC8B-4024-8057-363FD847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862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Unconditioned generation estimates p(x) and samples from only &lt;START&gt;.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06DCF1-5CCA-4533-8ABC-DEEEBDC2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95750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25DBF6-85D8-4FB8-825F-E0918153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6CC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6CC4"/>
                </a:solidFill>
                <a:latin typeface="Aptos"/>
                <a:ea typeface="Aptos"/>
                <a:cs typeface="Aptos"/>
              </a:rPr>
              <a:t>Task 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909540-D1A9-461F-BA2A-3F7743AE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862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Conditioned generation estimates p(melody | chords) from supplied chord tokens.</a:t>
            </a:r>
          </a:p>
        </p:txBody>
      </p:sp>
    </p:spTree>
    <p:extLst>
      <p:ext uri="{BB962C8B-B14F-4D97-AF65-F5344CB8AC3E}">
        <p14:creationId xmlns:p14="http://schemas.microsoft.com/office/powerpoint/2010/main" val="17962999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F0A11F-22C0-4E92-9F3E-29A50215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67F2E-73E0-424C-90BF-5400759B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0673B-8AE3-4414-8D9F-1969C67D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DATA AND EDA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C9716-6369-418D-A0DD-0AAFBC00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The same 1,033 tunes become two train/validation views.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F70CA-0790-4C60-8AE0-3C41187D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Sources: workbook.html, README.md, src/, figures/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36E20-1A23-4DE9-B3D2-C44D8DE7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4/18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F4176-C7ED-40D0-9B81-681CE7ED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2197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A4DBB-67CF-4461-B676-010B657B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21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6"/>
          </a:solidFill>
          <a:ln xmlns:a="http://schemas.openxmlformats.org/drawingml/2006/main" w="0">
            <a:solidFill>
              <a:srgbClr val="1423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6D01B-FDBD-4956-A5AE-72343737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130911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07175-8C0D-45AC-BF28-F205D303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066" y="1733550"/>
            <a:ext cx="52616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tunes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475A7-78E0-40C5-B5BC-612DC9F1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627" y="1733550"/>
            <a:ext cx="78714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tokens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E4250-8CBF-4D16-9318-54CFF8B8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73" y="1733550"/>
            <a:ext cx="52616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vocab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EB24F-4A42-42A6-A79A-1EC4A931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734" y="1733550"/>
            <a:ext cx="57835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avg len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6DC64E-F00E-4A3A-AAB5-0559F9EC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492" y="1733550"/>
            <a:ext cx="57835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chords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0DFCF-A3C7-4665-A0D8-DDED9CDA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6BD51-C4FE-4BFC-9EEE-3FF1CD07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66925"/>
            <a:ext cx="1309116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train uncond.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AF65F5-AC61-458F-89EB-61EA72B3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066" y="2066925"/>
            <a:ext cx="526161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879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B83A74-6B62-4172-B211-C578BDD8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627" y="2066925"/>
            <a:ext cx="787146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111,937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0DE348-4C68-40ED-8F62-D3C291EA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73" y="2066925"/>
            <a:ext cx="526161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213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47EA49-9100-4731-BA10-608C9CE8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734" y="2066925"/>
            <a:ext cx="578358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127.3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CFA65C-FDBE-41C5-A6AA-A098A923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492" y="2066925"/>
            <a:ext cx="578358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361E18-E1A1-483D-9D32-EBBD1471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4D2795-5473-4D45-B27B-DAE9092E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EED887-BFEB-4226-B6AA-FB0160E2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66975"/>
            <a:ext cx="1309116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val uncond.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83729C-18EB-467C-B4F1-0DAFBBE1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066" y="2466975"/>
            <a:ext cx="526161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154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D383B3-B23B-422E-9652-145AEA78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627" y="2466975"/>
            <a:ext cx="787146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19,610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FB7C5E-7F76-437E-91FF-B181B444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73" y="2466975"/>
            <a:ext cx="526161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169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C9EB70-DB5C-4342-AF98-8C79912E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734" y="2466975"/>
            <a:ext cx="578358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127.3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26F7B1-9E15-4808-868E-78C5CE1A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492" y="2466975"/>
            <a:ext cx="578358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78986F-0F56-4C39-8C15-3507A171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3092DC-82D8-4AF4-853B-6BD29DBA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67025"/>
            <a:ext cx="1309116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train cond.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C155BA-B22C-499A-87CF-EB29CE70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066" y="2867025"/>
            <a:ext cx="526161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879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4CE8F7-B468-4111-8D15-3A289133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627" y="2867025"/>
            <a:ext cx="787146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131,778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0E4751-5AE4-4C69-8017-7F353DF0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73" y="2867025"/>
            <a:ext cx="526161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294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0D6A97-F314-46FF-9C0E-4AE5F930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734" y="2867025"/>
            <a:ext cx="578358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149.9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276FA8-B3AB-4CB5-A1B4-114C6228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492" y="2867025"/>
            <a:ext cx="578358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81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5316EF-8B25-4000-8369-6B271226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1945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81A658-CB4B-486C-975D-9E0C0FB0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194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426E3D-BF9D-4F83-BBEA-00BD708C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67075"/>
            <a:ext cx="1309116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val cond.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DA4C58-D4F0-4020-BA43-9D064E90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066" y="3267075"/>
            <a:ext cx="526161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154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7CC11A-68A4-44F6-98E8-BAB653D5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627" y="3267075"/>
            <a:ext cx="787146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23,103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758132-87EB-4743-8300-398C298D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73" y="3267075"/>
            <a:ext cx="526161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211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3609FB-2775-4EEE-9A7C-8478582F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734" y="3267075"/>
            <a:ext cx="578358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150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B67293-E00A-481D-AD3D-EE6A05CF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492" y="3267075"/>
            <a:ext cx="578358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C34B07-2464-4D99-9737-ACC03257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247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1B601C-8243-4933-A972-418AAF45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76400"/>
            <a:ext cx="247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98714B-9FCA-4C5C-A507-845FDC92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5162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396590-E881-402D-AAA4-0CFF4F71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86200"/>
            <a:ext cx="485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6C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6CC4"/>
                </a:solidFill>
                <a:latin typeface="Aptos"/>
                <a:ea typeface="Aptos"/>
                <a:cs typeface="Aptos"/>
              </a:rPr>
              <a:t>Why this dataset fits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31BDA7-809A-42C4-9ED8-7DF1B554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52900"/>
            <a:ext cx="485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ABC is already symbolic and compact. Nottingham has monophonic melody plus chord labels, so one corpus supports both selected tasks.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07886C6-A5B8-4E57-B041-FD55F11B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19650"/>
            <a:ext cx="516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656DFDF-F74A-45FE-AB9C-6349A1F1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53000"/>
            <a:ext cx="485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B"/>
                </a:solidFill>
                <a:latin typeface="Aptos"/>
                <a:ea typeface="Aptos"/>
                <a:cs typeface="Aptos"/>
              </a:rPr>
              <a:t>What preprocessing adds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5F922B7-F9C8-4C77-8A6A-474AAF7A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19700"/>
            <a:ext cx="485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Durations are quantized to sixteenth-note units; chord symbols become CHORD_* tokens; train/validation splits are written as JSONL sequences.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6a2bfe79e4da0"/>
          <a:stretch xmlns:a="http://schemas.openxmlformats.org/drawingml/2006/main"/>
        </p:blipFill>
        <p:spPr>
          <a:xfrm xmlns:a="http://schemas.openxmlformats.org/drawingml/2006/main">
            <a:off x="6134100" y="1809750"/>
            <a:ext cx="2400300" cy="154305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593c2c00443bb"/>
          <a:stretch xmlns:a="http://schemas.openxmlformats.org/drawingml/2006/main"/>
        </p:blipFill>
        <p:spPr>
          <a:xfrm xmlns:a="http://schemas.openxmlformats.org/drawingml/2006/main">
            <a:off x="8820150" y="1809750"/>
            <a:ext cx="2400300" cy="1543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0663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FD5CAA-27F9-4820-BBC0-3ECCA06B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327BD-1AD9-4765-9CB5-8F49396A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FFB1E-B87F-461C-B715-CFCEF4B2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REPRESENTATION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AFE8E-E7E9-436A-9250-CA02F08D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The model sees notes, durations, bars, and chords as one token language.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48028-1E0A-4BBD-9151-65CFAA76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Sources: workbook.html, README.md, src/, figures/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BCBF7-2F02-4965-AEB6-81DFA641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5/18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7BB9A-F6C7-4608-9A31-FF574CE3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48577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1C"/>
          </a:solidFill>
          <a:ln xmlns:a="http://schemas.openxmlformats.org/drawingml/2006/main" w="9525">
            <a:solidFill>
              <a:srgbClr val="2535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D57B0-8CFA-43AF-B795-251136A9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485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29"/>
          </a:solidFill>
          <a:ln xmlns:a="http://schemas.openxmlformats.org/drawingml/2006/main" w="0">
            <a:solidFill>
              <a:srgbClr val="17242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A64D0-C1C2-460B-9573-C9F44EB9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59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8FA29B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8FA29B"/>
                </a:solidFill>
                <a:latin typeface="Aptos Mono"/>
                <a:ea typeface="Aptos Mono"/>
                <a:cs typeface="Aptos Mono"/>
              </a:rPr>
              <a:t>src/preprocessing/tokenize_nottingham.py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A1602-A3E4-466B-86A2-73137A7C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38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1020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1</a:t>
            </a:r>
          </a:p>
          <a:p xmlns:a="http://schemas.openxmlformats.org/drawingml/2006/main">
            <a:pPr algn="l">
              <a:defRPr sz="1020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1020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2</a:t>
            </a:r>
          </a:p>
          <a:p xmlns:a="http://schemas.openxmlformats.org/drawingml/2006/main">
            <a:pPr algn="l">
              <a:defRPr sz="1020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1020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3</a:t>
            </a:r>
          </a:p>
          <a:p xmlns:a="http://schemas.openxmlformats.org/drawingml/2006/main">
            <a:pPr algn="l">
              <a:defRPr sz="1020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1020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4</a:t>
            </a:r>
          </a:p>
          <a:p xmlns:a="http://schemas.openxmlformats.org/drawingml/2006/main">
            <a:pPr algn="l">
              <a:defRPr sz="1020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1020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5</a:t>
            </a:r>
          </a:p>
          <a:p xmlns:a="http://schemas.openxmlformats.org/drawingml/2006/main">
            <a:pPr algn="l">
              <a:defRPr sz="1020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1020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6</a:t>
            </a:r>
          </a:p>
          <a:p xmlns:a="http://schemas.openxmlformats.org/drawingml/2006/main">
            <a:pPr algn="l">
              <a:defRPr sz="1020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1020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7</a:t>
            </a:r>
          </a:p>
          <a:p xmlns:a="http://schemas.openxmlformats.org/drawingml/2006/main">
            <a:pPr algn="l">
              <a:defRPr sz="1020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1020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8</a:t>
            </a:r>
          </a:p>
          <a:p xmlns:a="http://schemas.openxmlformats.org/drawingml/2006/main">
            <a:pPr algn="l">
              <a:defRPr sz="1020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1020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9</a:t>
            </a:r>
          </a:p>
          <a:p xmlns:a="http://schemas.openxmlformats.org/drawingml/2006/main">
            <a:pPr algn="l">
              <a:defRPr sz="1020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1020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D6645-856B-4D60-AEF2-E389FD8E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42481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1020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def pitch_token(element, grid=4):</a:t>
            </a:r>
          </a:p>
          <a:p xmlns:a="http://schemas.openxmlformats.org/drawingml/2006/main">
            <a:pPr algn="l">
              <a:defRPr sz="1020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1020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units = duration_units(element.duration, grid=grid)</a:t>
            </a:r>
          </a:p>
          <a:p xmlns:a="http://schemas.openxmlformats.org/drawingml/2006/main">
            <a:pPr algn="l">
              <a:defRPr sz="1020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1020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if isinstance(element, note.Rest):</a:t>
            </a:r>
          </a:p>
          <a:p xmlns:a="http://schemas.openxmlformats.org/drawingml/2006/main">
            <a:pPr algn="l">
              <a:defRPr sz="1020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1020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    return f"REST_{units}"</a:t>
            </a:r>
          </a:p>
          <a:p xmlns:a="http://schemas.openxmlformats.org/drawingml/2006/main">
            <a:pPr algn="l">
              <a:defRPr sz="1020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1020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if isinstance(element, note.Note):</a:t>
            </a:r>
          </a:p>
          <a:p xmlns:a="http://schemas.openxmlformats.org/drawingml/2006/main">
            <a:pPr algn="l">
              <a:defRPr sz="1020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1020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    return f"NOTE_{int(element.pitch.midi)}_{units}"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20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1020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conditioned.append(chord)</a:t>
            </a:r>
          </a:p>
          <a:p xmlns:a="http://schemas.openxmlformats.org/drawingml/2006/main">
            <a:pPr algn="l">
              <a:defRPr sz="1020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1020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conditioned.extend(measure_tokens)</a:t>
            </a:r>
          </a:p>
          <a:p xmlns:a="http://schemas.openxmlformats.org/drawingml/2006/main">
            <a:pPr algn="l">
              <a:defRPr sz="1020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1020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conditioned.append(BAR_TOKEN)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E1E37-8843-43B8-8BF5-48556029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61706E"/>
                </a:solidFill>
                <a:latin typeface="Aptos Mono"/>
                <a:ea typeface="Aptos Mono"/>
                <a:cs typeface="Aptos Mono"/>
              </a:rPr>
              <a:t>Source tune: data/raw/nottingham/abc/nottingham_database/morris.abc::X15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BC28E-FF52-4D2A-A7AC-A0185389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34290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C4E5D-6EBA-41A9-B07D-5E2745A8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6"/>
          </a:solidFill>
          <a:ln xmlns:a="http://schemas.openxmlformats.org/drawingml/2006/main" w="0">
            <a:solidFill>
              <a:srgbClr val="1423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94FE0-C984-4B37-A5CA-A8090DFA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66925"/>
            <a:ext cx="60198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pos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A981C-D79F-433F-8253-2259A9BC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080" y="2066925"/>
            <a:ext cx="252222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token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7E6CB-A032-4C4B-84B0-CFE212EB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860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0F228A-E5D5-4C8C-85EA-A4D283C4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24100"/>
            <a:ext cx="60198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BD4EB-36FA-45E3-B041-34B6A7F3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080" y="2324100"/>
            <a:ext cx="252222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&lt;START&gt;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423A83-937F-41A4-87EB-6D06077E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336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8E6B17-0B21-439E-842D-4251E041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336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4F1832-2B81-4937-859E-AFA53B53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71750"/>
            <a:ext cx="60198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8AF893-4AD9-4722-8DB5-79372744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080" y="2571750"/>
            <a:ext cx="252222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CHORD_NC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1E536C-3997-4BEC-B764-A88577AE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060F4B-59CB-4AE5-A58E-ED1913DA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19400"/>
            <a:ext cx="60198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92EAFC-C667-471F-A0AB-2B400C1B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080" y="2819400"/>
            <a:ext cx="252222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NOTE_62_2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F73FE7-A6F1-473D-9CD6-E5C64C57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289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AB0377-4C5F-4E9A-9A10-2B7B35B0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289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055DA8-9A25-4429-A5F1-377CB8E5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67050"/>
            <a:ext cx="60198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4E372F-8781-4F80-A0C4-CFB02FB5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080" y="3067050"/>
            <a:ext cx="252222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&lt;BAR&gt;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5D5CF2-9EE9-421B-9ADE-8FAD29AB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766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05FB6B-4413-4CE9-8F79-016D6966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14700"/>
            <a:ext cx="60198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C1A07E-6060-433E-BE25-D0D99824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080" y="3314700"/>
            <a:ext cx="252222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CHORD_G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EE6BCE-53B1-4A21-9D3E-3D50333B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24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B555E5-2273-43B2-8779-10C2830B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242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C67B96-A212-446A-A9D3-7731456F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62350"/>
            <a:ext cx="60198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EEA3F9-A410-4946-B741-9D76A8B3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080" y="3562350"/>
            <a:ext cx="252222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NOTE_67_4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25D77D-2298-4AAE-B26B-71A7BE5B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71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7FF121-A4E6-42E2-8848-5E2ABC02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10000"/>
            <a:ext cx="60198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3C9532-0762-44EB-B6C1-6B54F01A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080" y="3810000"/>
            <a:ext cx="252222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NOTE_69_2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17FA08-0B51-4389-9DD2-90CABE71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195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5121A1-E452-441D-83CA-1E3A474B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195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ADA653-8111-4D8B-BEBD-038E0C33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57650"/>
            <a:ext cx="60198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6C1AC1-4574-45FF-B66A-72484625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080" y="4057650"/>
            <a:ext cx="252222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NOTE_71_4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FA4772-2EC0-4119-876A-45621DFE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672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2142C0-0F3E-4829-A5B9-84A016EA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05300"/>
            <a:ext cx="60198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2A7F73-5A6E-46EA-B0BB-1FA3BB7C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080" y="4305300"/>
            <a:ext cx="252222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NOTE_72_2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27CEA6-FEFB-4215-86D1-B226C8C0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19300"/>
            <a:ext cx="16764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E44432-B73B-4B76-B252-6204AA5A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526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842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842E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291158-F492-43EC-8636-5AE43A1F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19350"/>
            <a:ext cx="13716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NOTE_67_4 means MIDI pitch 67 for four sixteenth-note units. BAR preserves phrase boundaries. CHORD_G sets harmonic context for the following melody events.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E51AE2-3C24-4C31-84D9-A978DA65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487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2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5FBC37-3817-4703-A739-90F9FA56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B"/>
                </a:solidFill>
                <a:latin typeface="Aptos"/>
                <a:ea typeface="Aptos"/>
                <a:cs typeface="Aptos"/>
              </a:rPr>
              <a:t>Shape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7B82B1-A216-4D82-93E2-20D126D9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Conditioned sequences average 149.9 tokens because they include one chord token per measure. Unconditioned sequences average 127.3 tokens.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B567860-7C15-434B-A5CC-71D8D48C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1015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6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7354EB-5A57-42CD-A2D3-F882E564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43500"/>
            <a:ext cx="502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6C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6CC4"/>
                </a:solidFill>
                <a:latin typeface="Aptos"/>
                <a:ea typeface="Aptos"/>
                <a:cs typeface="Aptos"/>
              </a:rPr>
              <a:t>Why show tokens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27A2F34-CED1-4E2F-9C77-411298D8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10200"/>
            <a:ext cx="502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This is the bridge between the notebook/code and the generated MIDI files.</a:t>
            </a:r>
          </a:p>
        </p:txBody>
      </p:sp>
    </p:spTree>
    <p:extLst>
      <p:ext uri="{BB962C8B-B14F-4D97-AF65-F5344CB8AC3E}">
        <p14:creationId xmlns:p14="http://schemas.microsoft.com/office/powerpoint/2010/main" val="11997902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466EAC-4DD8-4C0A-8DCB-54316D22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0AAE4-FCEE-4FC7-A124-01999A32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6468C-7704-444E-B46A-B4F9821F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MODELING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AAA2E-FA9E-4683-8E20-DF08F5A8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A small GRU gives learned context without hiding the implementation.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82B9D-13EF-4929-B4C8-7091CD62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Sources: workbook.html, README.md, src/, figures/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E3CD2-894E-47A0-934E-2B522EFE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6/18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E36B3-A9B1-4B9B-B581-C1419D58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52197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1C"/>
          </a:solidFill>
          <a:ln xmlns:a="http://schemas.openxmlformats.org/drawingml/2006/main" w="9525">
            <a:solidFill>
              <a:srgbClr val="2535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23D40-739D-4BF3-A186-20D67BF9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521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29"/>
          </a:solidFill>
          <a:ln xmlns:a="http://schemas.openxmlformats.org/drawingml/2006/main" w="0">
            <a:solidFill>
              <a:srgbClr val="17242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87662-D841-4488-9428-2BCFB227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8FA29B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8FA29B"/>
                </a:solidFill>
                <a:latin typeface="Aptos Mono"/>
                <a:ea typeface="Aptos Mono"/>
                <a:cs typeface="Aptos Mono"/>
              </a:rPr>
              <a:t>src/models/gru_model.py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2283E-87C4-42B7-B7D6-05E64FDF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238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1088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1</a:t>
            </a:r>
          </a:p>
          <a:p xmlns:a="http://schemas.openxmlformats.org/drawingml/2006/main">
            <a:pPr algn="l">
              <a:defRPr sz="1088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1088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2</a:t>
            </a:r>
          </a:p>
          <a:p xmlns:a="http://schemas.openxmlformats.org/drawingml/2006/main">
            <a:pPr algn="l">
              <a:defRPr sz="1088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1088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3</a:t>
            </a:r>
          </a:p>
          <a:p xmlns:a="http://schemas.openxmlformats.org/drawingml/2006/main">
            <a:pPr algn="l">
              <a:defRPr sz="1088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1088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4</a:t>
            </a:r>
          </a:p>
          <a:p xmlns:a="http://schemas.openxmlformats.org/drawingml/2006/main">
            <a:pPr algn="l">
              <a:defRPr sz="1088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1088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5</a:t>
            </a:r>
          </a:p>
          <a:p xmlns:a="http://schemas.openxmlformats.org/drawingml/2006/main">
            <a:pPr algn="l">
              <a:defRPr sz="1088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1088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6</a:t>
            </a:r>
          </a:p>
          <a:p xmlns:a="http://schemas.openxmlformats.org/drawingml/2006/main">
            <a:pPr algn="l">
              <a:defRPr sz="1088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1088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7</a:t>
            </a:r>
          </a:p>
          <a:p xmlns:a="http://schemas.openxmlformats.org/drawingml/2006/main">
            <a:pPr algn="l">
              <a:defRPr sz="1088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1088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8</a:t>
            </a:r>
          </a:p>
          <a:p xmlns:a="http://schemas.openxmlformats.org/drawingml/2006/main">
            <a:pPr algn="l">
              <a:defRPr sz="1088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1088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FEDEEB-F6A8-46B9-A5AC-1ED33D0A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4610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1088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self.embedding = nn.Embedding(vocab_size, 128, padding_idx=pad_idx)</a:t>
            </a:r>
          </a:p>
          <a:p xmlns:a="http://schemas.openxmlformats.org/drawingml/2006/main">
            <a:pPr algn="l">
              <a:defRPr sz="1088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1088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self.gru = nn.GRU(</a:t>
            </a:r>
          </a:p>
          <a:p xmlns:a="http://schemas.openxmlformats.org/drawingml/2006/main">
            <a:pPr algn="l">
              <a:defRPr sz="1088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1088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input_size=128,</a:t>
            </a:r>
          </a:p>
          <a:p xmlns:a="http://schemas.openxmlformats.org/drawingml/2006/main">
            <a:pPr algn="l">
              <a:defRPr sz="1088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1088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hidden_size=256,</a:t>
            </a:r>
          </a:p>
          <a:p xmlns:a="http://schemas.openxmlformats.org/drawingml/2006/main">
            <a:pPr algn="l">
              <a:defRPr sz="1088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1088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num_layers=2,</a:t>
            </a:r>
          </a:p>
          <a:p xmlns:a="http://schemas.openxmlformats.org/drawingml/2006/main">
            <a:pPr algn="l">
              <a:defRPr sz="1088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1088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dropout=0.2,</a:t>
            </a:r>
          </a:p>
          <a:p xmlns:a="http://schemas.openxmlformats.org/drawingml/2006/main">
            <a:pPr algn="l">
              <a:defRPr sz="1088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1088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batch_first=True,</a:t>
            </a:r>
          </a:p>
          <a:p xmlns:a="http://schemas.openxmlformats.org/drawingml/2006/main">
            <a:pPr algn="l">
              <a:defRPr sz="1088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1088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)</a:t>
            </a:r>
          </a:p>
          <a:p xmlns:a="http://schemas.openxmlformats.org/drawingml/2006/main">
            <a:pPr algn="l">
              <a:defRPr sz="1088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1088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self.output = nn.Linear(256, vocab_size)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0DEE7-3D5D-4ACB-8E00-2ED504D5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4953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59DE29-933A-4634-A09F-F8E905F9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6"/>
          </a:solidFill>
          <a:ln xmlns:a="http://schemas.openxmlformats.org/drawingml/2006/main" w="0">
            <a:solidFill>
              <a:srgbClr val="1423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3E279-7D9B-48B6-9D0C-5ED4CEDC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050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approach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F6D959-DC9B-4C84-BB82-80EE9849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05000"/>
            <a:ext cx="168021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strength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ADE42-4B7B-423F-827F-EBA0C7EB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1905000"/>
            <a:ext cx="172974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weakness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7B2820-FB5C-4CC2-987A-FC062E49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5199BC-0223-40B2-B536-62FA927C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47900"/>
            <a:ext cx="1085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trigram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48F424-D2D2-4CA5-9845-FF7A0B01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47900"/>
            <a:ext cx="168021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simple, fair baseline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C6D25C-68F7-4BD7-B5FC-246A4938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2247900"/>
            <a:ext cx="17297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only two-token 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1D3463-6497-4170-9739-FA476A27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432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155EE7-F8E7-4959-AA72-2AAC005B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432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8A7C7F-0C1B-433B-BB3D-490DE72E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00350"/>
            <a:ext cx="1085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GRU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9F9AE7-13AB-490D-B9D0-4BFAF868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00350"/>
            <a:ext cx="168021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hidden state over phrases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2CBEB5-FCA6-42C5-8648-E6D92372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2800350"/>
            <a:ext cx="17297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limited global form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240B57-D57A-4785-83A8-8FC19F5D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956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C65278-107E-445F-B529-B5BCEE4C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52800"/>
            <a:ext cx="1085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transformer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7259AD-C224-4F9E-8E51-F6EC6ABD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168021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longer-range structure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70DA68-F5D9-4C21-8782-5D061213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3352800"/>
            <a:ext cx="17297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more compute and tuning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2D4B36-EECC-46BE-AEB8-AC3265B6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10050"/>
            <a:ext cx="495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4AC4A7-E4BD-4DFF-91D0-8B86D0B9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43400"/>
            <a:ext cx="464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B"/>
                </a:solidFill>
                <a:latin typeface="Aptos"/>
                <a:ea typeface="Aptos"/>
                <a:cs typeface="Aptos"/>
              </a:rPr>
              <a:t>Objective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8D2C90-0BEB-4A02-A9FF-ECB76BC8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10100"/>
            <a:ext cx="464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For both tasks the model minimizes cross-entropy for p(x_t | x_&lt;t). Validation perplexity is exp(validation loss).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F15EF5-8266-47A8-B2B6-5E3C397B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2445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439FBB-8916-4DB1-9627-5F720D02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57800"/>
            <a:ext cx="464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574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65745"/>
                </a:solidFill>
                <a:latin typeface="Aptos"/>
                <a:ea typeface="Aptos"/>
                <a:cs typeface="Aptos"/>
              </a:rPr>
              <a:t>Sampling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7D7F8E-593C-48AF-B869-DE3638CC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24500"/>
            <a:ext cx="464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Generation uses temperature 0.9 and top-k 12 sampling to avoid both deterministic loops and extremely unlikely notes.</a:t>
            </a:r>
          </a:p>
        </p:txBody>
      </p:sp>
    </p:spTree>
    <p:extLst>
      <p:ext uri="{BB962C8B-B14F-4D97-AF65-F5344CB8AC3E}">
        <p14:creationId xmlns:p14="http://schemas.microsoft.com/office/powerpoint/2010/main" val="9569413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020C9E-ACA7-4063-9317-85E10F99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FF2E6-6452-4E1E-B7C3-97C4FBBD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42E"/>
          </a:solidFill>
          <a:ln xmlns:a="http://schemas.openxmlformats.org/drawingml/2006/main" w="0">
            <a:solidFill>
              <a:srgbClr val="B684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71809-49BC-48E7-A329-3DFFD6D3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D4618-C6B0-4480-9C03-B2C666DE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Loss drops quickly and then flattens, which is the expected compact-dataset pattern.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F5BE4-A4AA-4B42-AB40-F21C96D1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Sources: workbook.html, README.md, src/, figures/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8FC6E-6CA9-44E6-89DC-CC5BB38C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7/18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32569-E349-420E-B53D-C1FBF1F4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70675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9AFEF-5407-4C98-8FCD-818623FE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52600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2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7810E-125D-468A-BF75-0DC6D832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8595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7A5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F7A5B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6275D-5FA8-41CE-B626-97519971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57425"/>
            <a:ext cx="1314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epochs run for both GRU models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76EFF-7AFC-43E6-A0A4-230E3240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52600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6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992EA-2550-4427-A1D9-4425A76D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8595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6CC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46CC4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BE1C7-077F-413E-BBD7-4CA1AEA9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57425"/>
            <a:ext cx="1314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best validation epoch for the conditioned GRU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621C09-A613-44C3-AA18-B196134A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33700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3C9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F06B5D-39F3-4435-9BC3-BD42E35C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6705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6842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6842E"/>
                </a:solidFill>
                <a:latin typeface="Aptos Display"/>
                <a:ea typeface="Aptos Display"/>
                <a:cs typeface="Aptos Display"/>
              </a:rPr>
              <a:t>0.313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73BE7-71EC-460F-9218-CDF701B2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38525"/>
            <a:ext cx="1314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final val-train gap for Task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ED108-BC9E-4E39-98A9-8850D70E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33700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FDA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4A161D-6D1B-46A4-BDC4-89BB1BD5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6705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6574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C65745"/>
                </a:solidFill>
                <a:latin typeface="Aptos Display"/>
                <a:ea typeface="Aptos Display"/>
                <a:cs typeface="Aptos Display"/>
              </a:rPr>
              <a:t>0.378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B4852C-2986-4D8D-BC0C-2BC49D15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38525"/>
            <a:ext cx="1314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final val-train gap for Task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E074AD-0780-4092-B984-7B97BA73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24350"/>
            <a:ext cx="3390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67C420-E728-4474-BDB4-6EA3F773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5770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B"/>
                </a:solidFill>
                <a:latin typeface="Aptos"/>
                <a:ea typeface="Aptos"/>
                <a:cs typeface="Aptos"/>
              </a:rPr>
              <a:t>Reading the curves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03F92B-EB12-4D8A-8952-5457C251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24400"/>
            <a:ext cx="3086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Both models learn the frequent melodic syntax early. After that, validation loss improves slowly, so more epochs would likely give diminishing returns.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d8fb24198425f"/>
          <a:stretch xmlns:a="http://schemas.openxmlformats.org/drawingml/2006/main"/>
        </p:blipFill>
        <p:spPr>
          <a:xfrm xmlns:a="http://schemas.openxmlformats.org/drawingml/2006/main">
            <a:off x="768350" y="1714500"/>
            <a:ext cx="6635750" cy="398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8762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2FD107-07B5-4281-A46D-DAF77C9D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36779-C8B4-4FC0-82DA-8663A518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745"/>
          </a:solidFill>
          <a:ln xmlns:a="http://schemas.openxmlformats.org/drawingml/2006/main" w="0">
            <a:solidFill>
              <a:srgbClr val="C657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904A8-ADBD-47EB-AC5B-BB544918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BASELINE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EABBF-995E-4D03-B3E6-97D1E618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Validation perplexity shows the learned hidden state matters.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80244-0321-4181-8731-C9F28D02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Sources: workbook.html, README.md, src/, figures/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A7AA2-5AE1-4650-9B28-3D4CA392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8/18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C9B25-08EB-4190-9701-BF036998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58293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9672F-7956-447D-855D-8D01B760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49118"/>
            <a:ext cx="457200" cy="1856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9AE"/>
          </a:solidFill>
          <a:ln xmlns:a="http://schemas.openxmlformats.org/drawingml/2006/main" w="0">
            <a:solidFill>
              <a:srgbClr val="8D99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31913-45ED-47F4-B2E7-93D2B171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58498"/>
            <a:ext cx="457200" cy="5468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1F89F-3D1E-4C0B-AED3-977B77D4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0518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25.2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77A4D-94E7-492D-9381-EA6D46AC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929898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7A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B"/>
                </a:solidFill>
                <a:latin typeface="Aptos"/>
                <a:ea typeface="Aptos"/>
                <a:cs typeface="Aptos"/>
              </a:rPr>
              <a:t>7.4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A3782A-FD5E-4679-B78B-F1B86109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Task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87C56-D200-46C0-BAA7-537C1C4A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02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657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65745"/>
                </a:solidFill>
                <a:latin typeface="Aptos"/>
                <a:ea typeface="Aptos"/>
                <a:cs typeface="Aptos"/>
              </a:rPr>
              <a:t>3.39x lower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D48DC3-F8BB-4C61-9BF8-76F5F32A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69873"/>
            <a:ext cx="457200" cy="21354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9AE"/>
          </a:solidFill>
          <a:ln xmlns:a="http://schemas.openxmlformats.org/drawingml/2006/main" w="0">
            <a:solidFill>
              <a:srgbClr val="8D99A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FDF5B-A23E-489F-A8FC-EBD6923B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23393"/>
            <a:ext cx="457200" cy="481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466768-357F-4E94-9344-87FA7834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41273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29.0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9DA1A-9D6B-4847-9997-E846D9D8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94793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7A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B"/>
                </a:solidFill>
                <a:latin typeface="Aptos"/>
                <a:ea typeface="Aptos"/>
                <a:cs typeface="Aptos"/>
              </a:rPr>
              <a:t>6.5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3B5092-E3CD-4D2C-A431-55FE1DF2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196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Task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F3DA7-8C52-4872-9E95-0CA70E76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002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657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65745"/>
                </a:solidFill>
                <a:latin typeface="Aptos"/>
                <a:ea typeface="Aptos"/>
                <a:cs typeface="Aptos"/>
              </a:rPr>
              <a:t>4.43x lower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EA842B-AD56-4F93-8D22-7B2A9721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validation perplexity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103E99-427A-41CA-AB55-28CF3E02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483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2DD899-1EBD-446E-B4D2-9A0D8947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43100"/>
            <a:ext cx="4191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CDEDC3-8B87-4D0A-BDB8-9F21F495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4310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6"/>
          </a:solidFill>
          <a:ln xmlns:a="http://schemas.openxmlformats.org/drawingml/2006/main" w="0">
            <a:solidFill>
              <a:srgbClr val="1423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BE01C6-8360-4185-9BDF-6A4873CD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00250"/>
            <a:ext cx="127254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124458-F754-46B2-A96C-DBC08466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3890" y="2000250"/>
            <a:ext cx="76962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n-gram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0AD76F-8AF7-495F-B881-3F8567EA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910" y="2000250"/>
            <a:ext cx="76962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GRU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9F74FA-102C-4E2D-9453-9514A34F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7930" y="2000250"/>
            <a:ext cx="76962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ratio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57E355-6DD4-4DF2-95F3-BF005187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364757-02E9-48E6-87F7-96FD7426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62200"/>
            <a:ext cx="127254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unconditioned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8701DE-F7B1-46BD-BA2B-2D137D9D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3890" y="2362200"/>
            <a:ext cx="76962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25.200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E53DD2-6907-4BFC-A432-1841C799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910" y="2362200"/>
            <a:ext cx="76962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7.424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94F572-8857-4148-B125-A20BEDE5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7930" y="2362200"/>
            <a:ext cx="76962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3.39x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6BE23F-7B99-45EC-935E-1F1C83B4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03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28D03B-1D13-4C01-8720-96BA1AAA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03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54A223-CBEA-4D12-81C6-EE63F0AB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27254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conditioned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159BB0-8F9E-4016-86F9-82DA082E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3890" y="2857500"/>
            <a:ext cx="76962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28.991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1A571D-C2D2-4C22-8249-33A8661C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910" y="2857500"/>
            <a:ext cx="76962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6.543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A399C7-DE17-4A6E-BF46-FD802F7E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7930" y="2857500"/>
            <a:ext cx="76962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4.43x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A80428-D377-4C7B-9246-44B93D35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90950"/>
            <a:ext cx="419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2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2054D2-7ED4-4DBC-8510-2C151145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24300"/>
            <a:ext cx="388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A9CB5C-83FB-4D51-9B91-C1780197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91000"/>
            <a:ext cx="388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The GRU is about 3.4x lower perplexity for unconditioned generation and about 4.4x lower for chord-conditioned generation.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6CD5CE-6C5E-447C-9043-6D622E2A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76800"/>
            <a:ext cx="419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6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BFCA07-A4B4-495A-92A7-ABF5DEF5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10150"/>
            <a:ext cx="388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6C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6CC4"/>
                </a:solidFill>
                <a:latin typeface="Aptos"/>
                <a:ea typeface="Aptos"/>
                <a:cs typeface="Aptos"/>
              </a:rPr>
              <a:t>Why this baseline is useful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3CF81F-F4AD-44CB-93DB-12B7A133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276850"/>
            <a:ext cx="388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A trigram model captures local token transitions, so beating it shows the recurrent state is contributing more than short local counts.</a:t>
            </a:r>
          </a:p>
        </p:txBody>
      </p:sp>
    </p:spTree>
    <p:extLst>
      <p:ext uri="{BB962C8B-B14F-4D97-AF65-F5344CB8AC3E}">
        <p14:creationId xmlns:p14="http://schemas.microsoft.com/office/powerpoint/2010/main" val="140428832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F8291E-F45C-49C8-87F0-00AD136B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B8459-5BBB-4C57-90D7-DD531FA3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59770-706E-4069-9A04-29BAB3E8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0D601-14FD-44BD-9732-CEB4853F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Unconditioned generation learns p(x) and samples from START 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5C611-7EF3-4A81-B68B-7A9F14DF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Sources: workbook.html, README.md, src/, figures/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B0BDD-D6BC-46C0-81F2-CA4FC5E9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9/18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D2CC3-95FD-4A0F-9CCC-D4853F67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2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5B20F-00DF-4A4E-82EA-7718C5B0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7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7A5B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38FD6-DAE8-4A84-ABC9-E8AB0EF7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5"/>
                </a:solidFill>
                <a:latin typeface="Aptos Mono"/>
                <a:ea typeface="Aptos Mono"/>
                <a:cs typeface="Aptos Mono"/>
              </a:defRPr>
            </a:pPr>
            <a:r>
              <a:rPr sz="2550" b="1">
                <a:solidFill>
                  <a:srgbClr val="172025"/>
                </a:solidFill>
                <a:latin typeface="Aptos Mono"/>
                <a:ea typeface="Aptos Mono"/>
                <a:cs typeface="Aptos Mono"/>
              </a:rPr>
              <a:t>&lt;START&gt;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ADFE1B-A5D3-40AE-8E6C-5D0DCF20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No melody prefix, chord prompt, or audio prompt.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6C086-050E-4BC6-AD6A-9ED68990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95625"/>
            <a:ext cx="933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38CCC-3846-4BA3-8993-AA44225B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57525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07232-80A0-4101-B244-A53E2FED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400C8-0B88-4E76-B041-DBD87AB6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145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57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65745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67AB07-F5C9-42B1-BEBF-C3DEF029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1460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GRU</a:t>
            </a:r>
          </a:p>
          <a:p xmlns:a="http://schemas.openxmlformats.org/drawingml/2006/main">
            <a:pPr algn="l">
              <a:defRPr sz="21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next-token</a:t>
            </a:r>
          </a:p>
          <a:p xmlns:a="http://schemas.openxmlformats.org/drawingml/2006/main">
            <a:pPr algn="l">
              <a:defRPr sz="21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sampler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53A39-5509-4BF4-B570-18A943E3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766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Autoregressively samples until END or max length.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20481D-8FE2-48B9-A394-94047B5B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5625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1CBB95-3200-4B8E-ABEC-7C7A1689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57525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64DF8-C075-4A6F-A1AC-487A9EC2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09750"/>
            <a:ext cx="2381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647CD7-5161-4B66-9606-8A7A1717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145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CC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6CC4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036E8F-0B80-4C47-9CF7-1CA8503A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90800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5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172025"/>
                </a:solidFill>
                <a:latin typeface="Aptos Mono"/>
                <a:ea typeface="Aptos Mono"/>
                <a:cs typeface="Aptos Mono"/>
              </a:rPr>
              <a:t>symbolic_</a:t>
            </a:r>
          </a:p>
          <a:p xmlns:a="http://schemas.openxmlformats.org/drawingml/2006/main">
            <a:pPr algn="l">
              <a:defRPr sz="1425" b="1">
                <a:solidFill>
                  <a:srgbClr val="172025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172025"/>
                </a:solidFill>
                <a:latin typeface="Aptos Mono"/>
                <a:ea typeface="Aptos Mono"/>
                <a:cs typeface="Aptos Mono"/>
              </a:rPr>
              <a:t>unconditioned.mid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C72DBF-5B92-4D7C-A812-36591DC9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0045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44.0 sec</a:t>
            </a:r>
          </a:p>
          <a:p xmlns:a="http://schemas.openxmlformats.org/drawingml/2006/main">
            <a:pPr algn="l">
              <a:defRPr sz="127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158 note_on events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06C4B4-818D-4077-A9AF-83383AF2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706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0E8F4C-ADF6-4A0A-93F1-E732D6A3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1040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B"/>
                </a:solidFill>
                <a:latin typeface="Aptos"/>
                <a:ea typeface="Aptos"/>
                <a:cs typeface="Aptos"/>
              </a:rPr>
              <a:t>Evaluation goals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39DED1-B56C-448F-BF77-A3BF6F98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1040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Plausible register, low immediate repetition, varied pitch/duration tokens, mostly singable melodic motion.</a:t>
            </a:r>
          </a:p>
        </p:txBody>
      </p:sp>
    </p:spTree>
    <p:extLst>
      <p:ext uri="{BB962C8B-B14F-4D97-AF65-F5344CB8AC3E}">
        <p14:creationId xmlns:p14="http://schemas.microsoft.com/office/powerpoint/2010/main" val="15154528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8107B8-F3A1-4188-A2E8-A0B13E17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D4D09-9874-439D-9AE1-13938BAD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431F6-FF22-4FC9-866A-92BD04A5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TASK 1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32532-CE68-40B7-90D2-263D7984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The generated melody is plausible, but rhythm variety is conservative.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7254D-30CE-4B8A-8E27-5ECEE1E2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Sources: workbook.html, README.md, src/, figures/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EEE00-92E4-4A0E-8B49-BFC799A7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10/18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4F78A-B79B-4517-9D0E-A60EB035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3342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8F28A-1D1D-4A85-A9D7-8F11A5A3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33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6"/>
          </a:solidFill>
          <a:ln xmlns:a="http://schemas.openxmlformats.org/drawingml/2006/main" w="0">
            <a:solidFill>
              <a:srgbClr val="1423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F768F-B2E8-4DCE-A98F-019CE680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160782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42776C-43FC-45EC-8FDA-BC525027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870" y="1771650"/>
            <a:ext cx="5810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949C9-A905-4BC6-930B-735C9A84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2295" y="1771650"/>
            <a:ext cx="65436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pitches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8978B-2839-478A-8941-D28D0135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062" y="1771650"/>
            <a:ext cx="87439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range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BE89F-1199-43B2-A76D-4431DF54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5858" y="1771650"/>
            <a:ext cx="72771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durations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2F4F06-8128-4200-85B1-28C40B4A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967" y="1771650"/>
            <a:ext cx="65436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entropy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0C7D8-9467-4D8D-9921-F931FE94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735" y="1771650"/>
            <a:ext cx="50768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repeat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9029E-74EC-46AE-BE65-1A90CEE2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817" y="1771650"/>
            <a:ext cx="50768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large leaps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8F45BC-FD7E-48CA-B5A9-57DE5F75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D9858A-4B83-4C36-93C4-F90B4E68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60782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23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generated GRU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74F937-A224-4561-8673-32E5B6F7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870" y="2133600"/>
            <a:ext cx="581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158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19864B-9B1B-42DD-8B93-33C53BEA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2295" y="2133600"/>
            <a:ext cx="65436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E309C1-2DB7-45EB-9DD2-B1EE5EF0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062" y="2133600"/>
            <a:ext cx="8743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[66, 83]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EFCAC-EEED-47C3-BDE4-1CF859EE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5858" y="2133600"/>
            <a:ext cx="72771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6F2004-C17D-4D2A-B77A-74CBD432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967" y="2133600"/>
            <a:ext cx="65436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2.79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08A04A-AF42-4EA0-B3DE-9B9CE16C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735" y="2133600"/>
            <a:ext cx="50768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0.065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3A5B15-D965-40F6-82AF-132E9824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817" y="2133600"/>
            <a:ext cx="50768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0.083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EA1ED9-1C7B-4D85-8443-8083FEF6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7334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B02EED-C326-40D9-812E-0C39B45C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77D587-A124-4B49-BAE7-9185328B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160782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23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generated n-gram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F338B6-54A4-42E9-93AE-100A574C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870" y="2667000"/>
            <a:ext cx="581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97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8D8C1C-F5B7-48FA-A241-8E3AA4FE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2295" y="2667000"/>
            <a:ext cx="65436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1405F4-150B-4F68-B531-C51E575F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062" y="2667000"/>
            <a:ext cx="8743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[59, 79]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212E54-5DD0-4A61-8BB2-A2C88062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5858" y="2667000"/>
            <a:ext cx="72771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F47804-3F81-4DC1-872D-976B227F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967" y="2667000"/>
            <a:ext cx="65436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2.985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56F905-EF4B-4E44-900D-97600532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735" y="2667000"/>
            <a:ext cx="50768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0.032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B3FD20-F200-43E9-B864-B4B6230F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817" y="2667000"/>
            <a:ext cx="50768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0.052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48CD0B-6406-494B-854D-43BC1371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D5DFA2-1DC4-4B3B-ABA5-B1B87AF8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160782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23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validation reference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F4E7E5-362F-4374-8534-578E6C0C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870" y="3200400"/>
            <a:ext cx="581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102.6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6282A4-80F2-4494-BD04-B82B6106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2295" y="3200400"/>
            <a:ext cx="65436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B49443-AE93-413A-8786-7AEB1787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062" y="3200400"/>
            <a:ext cx="8743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[55, 86]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06A067-4424-4EAA-AA7B-4AC09548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5858" y="3200400"/>
            <a:ext cx="72771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B3205E-BD4E-46D7-A56A-94560B33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967" y="3200400"/>
            <a:ext cx="65436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3.146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E5D3CC-1EB7-4BE6-81F4-9E76F4CD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735" y="3200400"/>
            <a:ext cx="50768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DFAE7A-F49F-4C6F-9734-8B2EA50A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817" y="3200400"/>
            <a:ext cx="50768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21C1CC-F290-4D5D-B103-DDFA253B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1447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2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A14B74-DA06-4DFE-838F-4E98163E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8595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7A5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F7A5B"/>
                </a:solidFill>
                <a:latin typeface="Aptos Display"/>
                <a:ea typeface="Aptos Display"/>
                <a:cs typeface="Aptos Display"/>
              </a:rPr>
              <a:t>158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3DDA6E-2BF3-4658-A4A0-D163F8B4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57425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generated GRU notes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84871A-8A3C-4F49-A571-87C68341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52600"/>
            <a:ext cx="1447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6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E6D8F0-7F18-4EFB-A70B-290563F6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8595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6CC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46CC4"/>
                </a:solidFill>
                <a:latin typeface="Aptos Display"/>
                <a:ea typeface="Aptos Display"/>
                <a:cs typeface="Aptos Display"/>
              </a:rPr>
              <a:t>0.065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ED1344-311F-43A1-886B-6EF6574C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57425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immediate repeat rate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699762A-2882-4783-9B41-535D8CC8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95600"/>
            <a:ext cx="3067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FDA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36B479D-6BAE-4DBA-B6B9-A7C716D8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276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65745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C65745"/>
                </a:solidFill>
                <a:latin typeface="Aptos Display"/>
                <a:ea typeface="Aptos Display"/>
                <a:cs typeface="Aptos Display"/>
              </a:rPr>
              <a:t>4 vs 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B308BBC-8D9D-4338-858D-B083E07C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00425"/>
            <a:ext cx="276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unique durations: GRU vs validation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41165E-BD8F-4908-92F0-968B1514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14800"/>
            <a:ext cx="3067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110718-D6AF-4A2E-A5E2-E5B94E52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481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B"/>
                </a:solidFill>
                <a:latin typeface="Aptos"/>
                <a:ea typeface="Aptos"/>
                <a:cs typeface="Aptos"/>
              </a:rPr>
              <a:t>What sounds likely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6CE9FA6-0FF6-4172-A9CC-AA9E3F3B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1485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Mostly stepwise motion, moderate pitch variety, and little exact token repetition.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2B413E3-1200-445E-BF9C-97F8902E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3067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0DE737C-224A-4A6E-A7A8-42870B43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435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842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842E"/>
                </a:solidFill>
                <a:latin typeface="Aptos"/>
                <a:ea typeface="Aptos"/>
                <a:cs typeface="Aptos"/>
              </a:rPr>
              <a:t>What to mention while listening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AB72E20-11A6-48E6-ADD7-FFC5EB58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4102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Decide whether repeated common pitches sound like folk-style consistency or like model overconfidence.</a:t>
            </a:r>
          </a:p>
        </p:txBody>
      </p:sp>
    </p:spTree>
    <p:extLst>
      <p:ext uri="{BB962C8B-B14F-4D97-AF65-F5344CB8AC3E}">
        <p14:creationId xmlns:p14="http://schemas.microsoft.com/office/powerpoint/2010/main" val="170414895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6E5D68-290F-4557-A6D5-59494AB5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53D01-922A-414E-AC0D-19A90AF2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11280-101B-486E-9C61-0A52DC6E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CODE WALKTHROUGH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F2C2A-578C-45BB-89F6-809963BA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Task 1 generation is a hidden-state loop with controlled sampling.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AEC3D-A581-4CCA-A768-379B64DB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Sources: workbook.html, README.md, src/, figures/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8B01E-197E-46D0-A911-5B04F82C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11/18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63FE2-EC96-4026-B685-E04D9872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7056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1C"/>
          </a:solidFill>
          <a:ln xmlns:a="http://schemas.openxmlformats.org/drawingml/2006/main" w="9525">
            <a:solidFill>
              <a:srgbClr val="2535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D90DA-11D3-411C-88BF-DD91E399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70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29"/>
          </a:solidFill>
          <a:ln xmlns:a="http://schemas.openxmlformats.org/drawingml/2006/main" w="0">
            <a:solidFill>
              <a:srgbClr val="17242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77363-B8AE-40B5-BFEF-A30BFBB8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643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8FA29B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8FA29B"/>
                </a:solidFill>
                <a:latin typeface="Aptos Mono"/>
                <a:ea typeface="Aptos Mono"/>
                <a:cs typeface="Aptos Mono"/>
              </a:rPr>
              <a:t>src/generation/sample_gru.py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D5859-9DBA-4F6D-9F56-28D1B722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238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1</a:t>
            </a:r>
          </a:p>
          <a:p xmlns:a="http://schemas.openxmlformats.org/drawingml/2006/main">
            <a:pPr algn="l">
              <a:def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2</a:t>
            </a:r>
          </a:p>
          <a:p xmlns:a="http://schemas.openxmlformats.org/drawingml/2006/main">
            <a:pPr algn="l">
              <a:def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3</a:t>
            </a:r>
          </a:p>
          <a:p xmlns:a="http://schemas.openxmlformats.org/drawingml/2006/main">
            <a:pPr algn="l">
              <a:def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4</a:t>
            </a:r>
          </a:p>
          <a:p xmlns:a="http://schemas.openxmlformats.org/drawingml/2006/main">
            <a:pPr algn="l">
              <a:def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5</a:t>
            </a:r>
          </a:p>
          <a:p xmlns:a="http://schemas.openxmlformats.org/drawingml/2006/main">
            <a:pPr algn="l">
              <a:def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6</a:t>
            </a:r>
          </a:p>
          <a:p xmlns:a="http://schemas.openxmlformats.org/drawingml/2006/main">
            <a:pPr algn="l">
              <a:def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7</a:t>
            </a:r>
          </a:p>
          <a:p xmlns:a="http://schemas.openxmlformats.org/drawingml/2006/main">
            <a:pPr algn="l">
              <a:def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8</a:t>
            </a:r>
          </a:p>
          <a:p xmlns:a="http://schemas.openxmlformats.org/drawingml/2006/main">
            <a:pPr algn="l">
              <a:def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9</a:t>
            </a:r>
          </a:p>
          <a:p xmlns:a="http://schemas.openxmlformats.org/drawingml/2006/main">
            <a:pPr algn="l">
              <a:def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10</a:t>
            </a:r>
          </a:p>
          <a:p xmlns:a="http://schemas.openxmlformats.org/drawingml/2006/main">
            <a:pPr algn="l">
              <a:def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11</a:t>
            </a:r>
          </a:p>
          <a:p xmlns:a="http://schemas.openxmlformats.org/drawingml/2006/main">
            <a:pPr algn="l">
              <a:def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12</a:t>
            </a:r>
          </a:p>
          <a:p xmlns:a="http://schemas.openxmlformats.org/drawingml/2006/main">
            <a:pPr algn="l">
              <a:def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98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C140B-69D3-4CA4-831F-5DFB4918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60960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98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generated = [START_TOKEN]</a:t>
            </a:r>
          </a:p>
          <a:p xmlns:a="http://schemas.openxmlformats.org/drawingml/2006/main">
            <a:pPr algn="l">
              <a:defRPr sz="998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98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input_id = torch.tensor([[vocab.token_to_id[START_TOKEN]]])</a:t>
            </a:r>
          </a:p>
          <a:p xmlns:a="http://schemas.openxmlformats.org/drawingml/2006/main">
            <a:pPr algn="l">
              <a:defRPr sz="998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98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hidden = None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8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98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for _ in range(max_tokens):</a:t>
            </a:r>
          </a:p>
          <a:p xmlns:a="http://schemas.openxmlformats.org/drawingml/2006/main">
            <a:pPr algn="l">
              <a:defRPr sz="998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98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logits, hidden = model(input_id, hidden)</a:t>
            </a:r>
          </a:p>
          <a:p xmlns:a="http://schemas.openxmlformats.org/drawingml/2006/main">
            <a:pPr algn="l">
              <a:defRPr sz="998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98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note_count = sum(t.startswith("NOTE_") for t in generated)</a:t>
            </a:r>
          </a:p>
          <a:p xmlns:a="http://schemas.openxmlformats.org/drawingml/2006/main">
            <a:pPr algn="l">
              <a:defRPr sz="998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98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blocked = [END_TOKEN] if note_count &lt; min_note_tokens else []</a:t>
            </a:r>
          </a:p>
          <a:p xmlns:a="http://schemas.openxmlformats.org/drawingml/2006/main">
            <a:pPr algn="l">
              <a:defRPr sz="998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98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next_id = sample_next(logits[0, -1], vocab,</a:t>
            </a:r>
          </a:p>
          <a:p xmlns:a="http://schemas.openxmlformats.org/drawingml/2006/main">
            <a:pPr algn="l">
              <a:defRPr sz="998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98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                      temperature=0.9, top_k=12,</a:t>
            </a:r>
          </a:p>
          <a:p xmlns:a="http://schemas.openxmlformats.org/drawingml/2006/main">
            <a:pPr algn="l">
              <a:defRPr sz="998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98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                      blocked_tokens=blocked)</a:t>
            </a:r>
          </a:p>
          <a:p xmlns:a="http://schemas.openxmlformats.org/drawingml/2006/main">
            <a:pPr algn="l">
              <a:defRPr sz="998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98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token = vocab.id_to_token[next_id]</a:t>
            </a:r>
          </a:p>
          <a:p xmlns:a="http://schemas.openxmlformats.org/drawingml/2006/main">
            <a:pPr algn="l">
              <a:defRPr sz="998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98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generated.append(token)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203CA-91C8-456B-952E-69514D94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47850"/>
            <a:ext cx="342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2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E48E11-C342-4244-92EB-9482B4DB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81200"/>
            <a:ext cx="3124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B"/>
                </a:solidFill>
                <a:latin typeface="Aptos"/>
                <a:ea typeface="Aptos"/>
                <a:cs typeface="Aptos"/>
              </a:rPr>
              <a:t>Architectural choice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AD4AD-A37D-4B02-8137-7635875D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47900"/>
            <a:ext cx="3124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The GRU hidden state carries phrase context across all previously generated events.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2D892D-CDAF-4326-9387-36749F8F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33700"/>
            <a:ext cx="342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6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3364C-63CA-43AE-9B8E-E23C47CB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67050"/>
            <a:ext cx="3124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6C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6CC4"/>
                </a:solidFill>
                <a:latin typeface="Aptos"/>
                <a:ea typeface="Aptos"/>
                <a:cs typeface="Aptos"/>
              </a:rPr>
              <a:t>Sampling choice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71E73-7B25-4451-90A6-5C600E5E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33750"/>
            <a:ext cx="3124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Temperature and top-k sampling keep the output from becoming either deterministic or too random.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409C8-4A3F-42F5-9F61-9026D2F3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19550"/>
            <a:ext cx="342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FDA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58C8B-7D5D-42FF-B0A3-D9D06CC3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52900"/>
            <a:ext cx="3124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574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65745"/>
                </a:solidFill>
                <a:latin typeface="Aptos"/>
                <a:ea typeface="Aptos"/>
                <a:cs typeface="Aptos"/>
              </a:rPr>
              <a:t>Practical guardrail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D3E5CF-6C72-4285-ADE2-86B6F385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19600"/>
            <a:ext cx="3124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END is blocked until the sample has enough notes, avoiding empty or extremely short MIDI files.</a:t>
            </a:r>
          </a:p>
        </p:txBody>
      </p:sp>
    </p:spTree>
    <p:extLst>
      <p:ext uri="{BB962C8B-B14F-4D97-AF65-F5344CB8AC3E}">
        <p14:creationId xmlns:p14="http://schemas.microsoft.com/office/powerpoint/2010/main" val="43084551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905211-0069-45C3-A962-7264E45D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B8C10-ED1B-4CED-876C-5C4ED365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CC4"/>
          </a:solidFill>
          <a:ln xmlns:a="http://schemas.openxmlformats.org/drawingml/2006/main" w="0">
            <a:solidFill>
              <a:srgbClr val="346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52094-CD15-41AD-85F2-EEA930E9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TASK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49942-95E2-404E-BBE9-4F249402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Conditioned generation changes the target to p(melody | chords).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BEFA2-1AF7-43F6-961B-078C5687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Sources: workbook.html, README.md, src/, figures/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D62C0-FB93-4B5E-8C09-26FE4400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12/18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DAB30-163A-4C75-B648-8DE16D6F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2766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0F9CD-4DB9-47FA-A58B-D6389F45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CC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6CC4"/>
                </a:solidFill>
                <a:latin typeface="Aptos"/>
                <a:ea typeface="Aptos"/>
                <a:cs typeface="Aptos"/>
              </a:rPr>
              <a:t>Input chord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BC681-7D40-4878-AF3C-64EF4F36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286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5"/>
                </a:solidFill>
                <a:latin typeface="Aptos Mono"/>
                <a:ea typeface="Aptos Mono"/>
                <a:cs typeface="Aptos Mono"/>
              </a:defRPr>
            </a:pPr>
            <a:r>
              <a:rPr sz="2025" b="1">
                <a:solidFill>
                  <a:srgbClr val="172025"/>
                </a:solidFill>
                <a:latin typeface="Aptos Mono"/>
                <a:ea typeface="Aptos Mono"/>
                <a:cs typeface="Aptos Mono"/>
              </a:rPr>
              <a:t>CHORD_G</a:t>
            </a:r>
          </a:p>
          <a:p xmlns:a="http://schemas.openxmlformats.org/drawingml/2006/main">
            <a:pPr algn="l">
              <a:defRPr sz="2025" b="1">
                <a:solidFill>
                  <a:srgbClr val="172025"/>
                </a:solidFill>
                <a:latin typeface="Aptos Mono"/>
                <a:ea typeface="Aptos Mono"/>
                <a:cs typeface="Aptos Mono"/>
              </a:defRPr>
            </a:pPr>
            <a:r>
              <a:rPr sz="2025" b="1">
                <a:solidFill>
                  <a:srgbClr val="172025"/>
                </a:solidFill>
                <a:latin typeface="Aptos Mono"/>
                <a:ea typeface="Aptos Mono"/>
                <a:cs typeface="Aptos Mono"/>
              </a:rPr>
              <a:t>NOTE_67_4</a:t>
            </a:r>
          </a:p>
          <a:p xmlns:a="http://schemas.openxmlformats.org/drawingml/2006/main">
            <a:pPr algn="l">
              <a:defRPr sz="2025" b="1">
                <a:solidFill>
                  <a:srgbClr val="172025"/>
                </a:solidFill>
                <a:latin typeface="Aptos Mono"/>
                <a:ea typeface="Aptos Mono"/>
                <a:cs typeface="Aptos Mono"/>
              </a:defRPr>
            </a:pPr>
            <a:r>
              <a:rPr sz="2025" b="1">
                <a:solidFill>
                  <a:srgbClr val="172025"/>
                </a:solidFill>
                <a:latin typeface="Aptos Mono"/>
                <a:ea typeface="Aptos Mono"/>
                <a:cs typeface="Aptos Mono"/>
              </a:rPr>
              <a:t>NOTE_69_2</a:t>
            </a:r>
          </a:p>
          <a:p xmlns:a="http://schemas.openxmlformats.org/drawingml/2006/main">
            <a:pPr algn="l">
              <a:defRPr sz="2025" b="1">
                <a:solidFill>
                  <a:srgbClr val="172025"/>
                </a:solidFill>
                <a:latin typeface="Aptos Mono"/>
                <a:ea typeface="Aptos Mono"/>
                <a:cs typeface="Aptos Mono"/>
              </a:defRPr>
            </a:pPr>
            <a:r>
              <a:rPr sz="2025" b="1">
                <a:solidFill>
                  <a:srgbClr val="172025"/>
                </a:solidFill>
                <a:latin typeface="Aptos Mono"/>
                <a:ea typeface="Aptos Mono"/>
                <a:cs typeface="Aptos Mono"/>
              </a:rPr>
              <a:t>&lt;BAR&gt;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CDF27-971D-478C-8C8A-35948633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Chord token appears before measure-level melody events.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A59C6-58E5-4207-B0F1-918281AE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33725"/>
            <a:ext cx="933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3680F-92E4-4B1D-857E-A654297D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95625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08377E-8173-4079-B115-F7E63A46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09750"/>
            <a:ext cx="28575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A5E83-A345-4FFF-8D07-65E15BA6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33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7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7A5B"/>
                </a:solidFill>
                <a:latin typeface="Aptos"/>
                <a:ea typeface="Aptos"/>
                <a:cs typeface="Aptos"/>
              </a:rPr>
              <a:t>Model objective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7A156-0B1D-486F-B3B7-A610827D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09850"/>
            <a:ext cx="209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p(melody token</a:t>
            </a:r>
          </a:p>
          <a:p xmlns:a="http://schemas.openxmlformats.org/drawingml/2006/main">
            <a:pPr algn="l">
              <a:defRPr sz="225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| prior tokens,</a:t>
            </a:r>
          </a:p>
          <a:p xmlns:a="http://schemas.openxmlformats.org/drawingml/2006/main">
            <a:pPr algn="l">
              <a:defRPr sz="225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active chord)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8E28B1-FA9A-43B9-A93E-208F3A83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33725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C0D36-A25D-4B66-9EF6-15832ED0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95625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690F98-993E-4385-82FA-185057A8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4765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2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D0FD72-220A-4A62-9826-20293073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33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7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7A5B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4FD42-F347-458D-AC49-C3CB1CCF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86050"/>
            <a:ext cx="1885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5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172025"/>
                </a:solidFill>
                <a:latin typeface="Aptos Mono"/>
                <a:ea typeface="Aptos Mono"/>
                <a:cs typeface="Aptos Mono"/>
              </a:rPr>
              <a:t>symbolic_</a:t>
            </a:r>
          </a:p>
          <a:p xmlns:a="http://schemas.openxmlformats.org/drawingml/2006/main">
            <a:pPr algn="l">
              <a:defRPr sz="1575" b="1">
                <a:solidFill>
                  <a:srgbClr val="172025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172025"/>
                </a:solidFill>
                <a:latin typeface="Aptos Mono"/>
                <a:ea typeface="Aptos Mono"/>
                <a:cs typeface="Aptos Mono"/>
              </a:rPr>
              <a:t>conditioned.mid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A52E29-A211-4C4A-9468-16A98526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1950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32.0 sec</a:t>
            </a:r>
          </a:p>
          <a:p xmlns:a="http://schemas.openxmlformats.org/drawingml/2006/main">
            <a:pPr algn="l">
              <a:defRPr sz="127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63 note_on events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5909B9-2517-4CF8-A891-FEEAB3C3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782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745E45-6381-4C32-8331-74EF8B13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47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6C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6CC4"/>
                </a:solidFill>
                <a:latin typeface="Aptos"/>
                <a:ea typeface="Aptos"/>
                <a:cs typeface="Aptos"/>
              </a:rPr>
              <a:t>Extra evaluation target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A11759-E8DF-4CBA-BABF-A8D8223D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047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The melody should fit the supplied harmony, but non-chord tones can still be musically valid as passing tones or suspensions.</a:t>
            </a:r>
          </a:p>
        </p:txBody>
      </p:sp>
    </p:spTree>
    <p:extLst>
      <p:ext uri="{BB962C8B-B14F-4D97-AF65-F5344CB8AC3E}">
        <p14:creationId xmlns:p14="http://schemas.microsoft.com/office/powerpoint/2010/main" val="127818172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EF9F15-1BB8-4313-8A36-6F8E5463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3EC53-593A-4C68-8CC0-7BAFC36E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CC4"/>
          </a:solidFill>
          <a:ln xmlns:a="http://schemas.openxmlformats.org/drawingml/2006/main" w="0">
            <a:solidFill>
              <a:srgbClr val="346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C8B22-08B9-4FFF-B2E2-ED8E33D1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TASK 2 EDA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CFAE6-58ED-4727-8B30-4C48033D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Chord conditioning is meaningful, but the distribution is heavily skewed.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4141C-C9F9-4C53-A1A4-74BCE737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Sources: workbook.html, README.md, src/, figures/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10ECF-5CD6-4492-8C23-529A4DAD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13/18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342A4-91F2-4175-8028-CE39279A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729615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83647-8366-44B6-B2A2-51981B3A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6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D22DDF-E1EC-43E5-90CA-54215F50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2552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6CC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46CC4"/>
                </a:solidFill>
                <a:latin typeface="Aptos Display"/>
                <a:ea typeface="Aptos Display"/>
                <a:cs typeface="Aptos Display"/>
              </a:rPr>
              <a:t>81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57176-D28E-4916-B20F-7F0702CC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57425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unique chord tokens in the conditioned training split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0E1AA-F3F7-46DB-921C-7887D7DC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3370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2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87C743-04C3-416A-9338-8F499FA6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2552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7A5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F7A5B"/>
                </a:solidFill>
                <a:latin typeface="Aptos Display"/>
                <a:ea typeface="Aptos Display"/>
                <a:cs typeface="Aptos Display"/>
              </a:rPr>
              <a:t>42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A9B02-DAA7-4D10-BD56-92ED03F7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38525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unique chord tokens in the conditioned validation split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36221-1949-4B4F-8746-243201A2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24350"/>
            <a:ext cx="2857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9FFC60-EFB3-4598-A03F-DDD2D8E6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574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65745"/>
                </a:solidFill>
                <a:latin typeface="Aptos"/>
                <a:ea typeface="Aptos"/>
                <a:cs typeface="Aptos"/>
              </a:rPr>
              <a:t>Modeling implication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6F553-6B0E-4123-B08F-522D2E35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24400"/>
            <a:ext cx="2552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Common chords such as G and D are well represented. Rare chords may be harder to condition on reliably without more data.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e94c36cb94625"/>
          <a:stretch xmlns:a="http://schemas.openxmlformats.org/drawingml/2006/main"/>
        </p:blipFill>
        <p:spPr>
          <a:xfrm xmlns:a="http://schemas.openxmlformats.org/drawingml/2006/main">
            <a:off x="600075" y="2108489"/>
            <a:ext cx="7200900" cy="294582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06441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E36B30-19F9-49C8-BA27-720B086B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0379F-7EB0-44F4-985C-D25FD22F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CC4"/>
          </a:solidFill>
          <a:ln xmlns:a="http://schemas.openxmlformats.org/drawingml/2006/main" w="0">
            <a:solidFill>
              <a:srgbClr val="346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341EE-B54F-4CBD-9371-463EA546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TASK 2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585CF-183A-43DF-8816-102CD403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The conditioned GRU aligns with chords while keeping leaps lower than the baseline.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F1523-1AE8-48B9-A72D-718EA7B0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Sources: workbook.html, README.md, src/, figures/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B1E76-0755-48F8-8D5F-7CF12A0F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14/18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27A20-19ED-4F87-9479-9F847963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67818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900DB-4D34-43A9-B1C2-7B06BAA3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6781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6"/>
          </a:solidFill>
          <a:ln xmlns:a="http://schemas.openxmlformats.org/drawingml/2006/main" w="0">
            <a:solidFill>
              <a:srgbClr val="1423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336B1-64CF-476B-8F81-329C55DB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678686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B2158-BFF3-47B6-88EB-1A136B67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1752600"/>
            <a:ext cx="52578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346BF-9935-4DBA-BCCC-D6E5099C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916" y="1752600"/>
            <a:ext cx="59359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chords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895EE-BE6F-4A93-9F6D-F10772FD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914" y="1752600"/>
            <a:ext cx="59359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pitches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409AD-19FF-4CBC-9343-FF496106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912" y="1752600"/>
            <a:ext cx="86487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range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147A65-06F2-443A-89D7-3621198B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182" y="1752600"/>
            <a:ext cx="79705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chord-tone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DDB0A3-2DE7-4EC8-8E7B-74D28FF2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634" y="1752600"/>
            <a:ext cx="661416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large leaps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890457-0D40-46F4-B503-E3998844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678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BBAE6-8C52-438A-BE76-F4973F8D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678686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generated GRU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DA5954-C896-4C8B-957B-7E723163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2114550"/>
            <a:ext cx="5257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63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A6F3BD-B80D-4D8A-9002-E99EAE9F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916" y="2114550"/>
            <a:ext cx="59359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D1280B-1CC2-41E9-AB68-31D081DD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914" y="2114550"/>
            <a:ext cx="59359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2407A-6134-4AD1-84BE-3EBB7B13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912" y="2114550"/>
            <a:ext cx="86487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[59, 79]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EA0482-3B07-4F1E-9201-C40EE0C6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182" y="2114550"/>
            <a:ext cx="797052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0.714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8571F2-0517-4871-8AB1-11F7E9E6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634" y="2114550"/>
            <a:ext cx="661416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0.048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08F22D-0F8C-47CE-9BEB-C3BD5D3A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6781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2CA923-07C1-4916-AFB3-7D0AE8A4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678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7010F5-2464-4A35-A226-784C3311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1678686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generated n-gram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57322-F8CC-4CAF-AA12-224BA020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2647950"/>
            <a:ext cx="5257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63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770789-A250-40EC-B353-5709E820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916" y="2647950"/>
            <a:ext cx="59359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8CA220-353D-4A5C-BFF3-C39B5D1E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914" y="2647950"/>
            <a:ext cx="59359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84F786-53F0-4E02-B270-04F7CF4C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912" y="2647950"/>
            <a:ext cx="86487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[64, 83]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B04FE5-F7FD-4973-8BDF-2555F979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182" y="2647950"/>
            <a:ext cx="797052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0.698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EAD31E-0763-4834-BC3C-A0306E2B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634" y="2647950"/>
            <a:ext cx="661416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0.145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EC3158-F37B-48BA-AC4C-507C44DE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678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13EAE8-D5D6-470F-9300-63E1A3A3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1678686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validation reference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AFD317-C9F2-4DE9-966C-9167FDE8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3181350"/>
            <a:ext cx="5257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102.6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9EEE83-B570-441B-94DC-3755962D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916" y="3181350"/>
            <a:ext cx="59359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3493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DFA917-9E27-4D86-A7A0-D161621C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914" y="3181350"/>
            <a:ext cx="59359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494FC4-95C8-4F5C-80B5-AF250884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912" y="3181350"/>
            <a:ext cx="86487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[55, 86]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0FC034-F704-4F8C-96E2-CCA6E918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182" y="3181350"/>
            <a:ext cx="797052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E5F011-2FFE-4AA1-8CE5-60D87A84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634" y="3181350"/>
            <a:ext cx="661416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AF4B5B-BF48-48C0-92E9-D7185963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95450"/>
            <a:ext cx="34671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68FB3D-E1AA-4F3C-A017-CDF990C8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431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Chord-tone rate by active chord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17DE90-DA94-4242-92CE-F960D1B0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00300"/>
            <a:ext cx="104775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05EDA1-1742-413F-A871-FA9A9870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61260"/>
            <a:ext cx="1104900" cy="1114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3"/>
          </a:solidFill>
          <a:ln xmlns:a="http://schemas.openxmlformats.org/drawingml/2006/main" w="0">
            <a:solidFill>
              <a:srgbClr val="E4DED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F6E4B1-5A8E-4789-8EDA-2ACCAD86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61260"/>
            <a:ext cx="602171" cy="1114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42E"/>
          </a:solidFill>
          <a:ln xmlns:a="http://schemas.openxmlformats.org/drawingml/2006/main" w="0">
            <a:solidFill>
              <a:srgbClr val="B6842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2B6700-02F8-450E-B8B7-0575752B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400300"/>
            <a:ext cx="55245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0.545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B11741-71DC-4805-A982-C3ED5672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09863"/>
            <a:ext cx="104775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D023B3-9DF2-4A21-8DF5-8C2BBA1D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70823"/>
            <a:ext cx="1104900" cy="1114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3"/>
          </a:solidFill>
          <a:ln xmlns:a="http://schemas.openxmlformats.org/drawingml/2006/main" w="0">
            <a:solidFill>
              <a:srgbClr val="E4DED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4C687F-07B3-49C7-BC12-4E2F0217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70823"/>
            <a:ext cx="780059" cy="1114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5730F5-7271-45C2-BBD1-BCFB9730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709863"/>
            <a:ext cx="55245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0.706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4926DE-4C12-4656-9230-929FD7CE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19425"/>
            <a:ext cx="104775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Em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389375-A668-4E48-B9D1-C9E198E4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80385"/>
            <a:ext cx="1104900" cy="1114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3"/>
          </a:solidFill>
          <a:ln xmlns:a="http://schemas.openxmlformats.org/drawingml/2006/main" w="0">
            <a:solidFill>
              <a:srgbClr val="E4DED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3CAFF3D-9921-4000-93E5-75B3F384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80385"/>
            <a:ext cx="552450" cy="1114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42E"/>
          </a:solidFill>
          <a:ln xmlns:a="http://schemas.openxmlformats.org/drawingml/2006/main" w="0">
            <a:solidFill>
              <a:srgbClr val="B6842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58411BD-CE95-4A5A-AF68-15C9488C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19425"/>
            <a:ext cx="55245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0.500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829F7C3-C573-44BF-997C-5E33EC1C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28988"/>
            <a:ext cx="104775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50B5EF3-F7C1-45B3-8B65-A9F3B2D4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89948"/>
            <a:ext cx="1104900" cy="1114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3"/>
          </a:solidFill>
          <a:ln xmlns:a="http://schemas.openxmlformats.org/drawingml/2006/main" w="0">
            <a:solidFill>
              <a:srgbClr val="E4DED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5E2C5D6-9130-432A-8130-44E3A2E0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89948"/>
            <a:ext cx="890549" cy="1114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6C32AAB-4C3C-4550-AF2C-3E317AFE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328988"/>
            <a:ext cx="55245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0.806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9C139A0-14DC-4F89-9199-1F08EB64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29100"/>
            <a:ext cx="1638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2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260F92-8BF6-4191-B4AC-B627C4C9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7A5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F7A5B"/>
                </a:solidFill>
                <a:latin typeface="Aptos Display"/>
                <a:ea typeface="Aptos Display"/>
                <a:cs typeface="Aptos Display"/>
              </a:rPr>
              <a:t>0.714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2F2944E-7939-48F0-98E7-C4F7471E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33925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overall generated GRU chord-tone rate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F0CC370-293A-490D-986F-EF7564F9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229100"/>
            <a:ext cx="1638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6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CA09F60-02DD-49A4-818C-0DB56458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624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46CC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346CC4"/>
                </a:solidFill>
                <a:latin typeface="Aptos Display"/>
                <a:ea typeface="Aptos Display"/>
                <a:cs typeface="Aptos Display"/>
              </a:rPr>
              <a:t>0.048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347B3BF-7449-4416-9393-04C40D16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33925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large leap rate, lower than n-gram's 0.145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28428E6-E260-436E-BB76-82A8B481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6781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72D7FDC-3BC4-4D73-BD4A-63BF6577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647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574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65745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C0ED3C2-6F67-40CE-8424-FE5FE802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95900"/>
            <a:ext cx="647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The chord-tone metric is a sanity check, not a final quality score. It captures simple triad alignment but not passing tones, suspensions, or phrase-level intent.</a:t>
            </a:r>
          </a:p>
        </p:txBody>
      </p:sp>
    </p:spTree>
    <p:extLst>
      <p:ext uri="{BB962C8B-B14F-4D97-AF65-F5344CB8AC3E}">
        <p14:creationId xmlns:p14="http://schemas.microsoft.com/office/powerpoint/2010/main" val="182019173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62A1CF-8C4E-4612-9BD7-D0F8F701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538A3-29D7-43E9-A525-C2753D42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CC4"/>
          </a:solidFill>
          <a:ln xmlns:a="http://schemas.openxmlformats.org/drawingml/2006/main" w="0">
            <a:solidFill>
              <a:srgbClr val="346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63D7D-B15C-4E31-99E7-86DB3B56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CODE WALKTHROUGH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410CC-2290-402C-A1FC-A5B02A16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Task 2 feeds chord tokens first, then samples melody until the next bar.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B9951-0837-4153-AA53-13C67661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Sources: workbook.html, README.md, src/, figures/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B4215-7BBB-4126-A971-DF8030C4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15/18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2B8D2-84A6-461F-A0E1-1A9DB8C7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64960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1C"/>
          </a:solidFill>
          <a:ln xmlns:a="http://schemas.openxmlformats.org/drawingml/2006/main" w="9525">
            <a:solidFill>
              <a:srgbClr val="2535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591E1-4D9E-437E-A51D-D1B22FF9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649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29"/>
          </a:solidFill>
          <a:ln xmlns:a="http://schemas.openxmlformats.org/drawingml/2006/main" w="0">
            <a:solidFill>
              <a:srgbClr val="17242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4FE32-9282-404B-8341-457DF810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229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8FA29B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8FA29B"/>
                </a:solidFill>
                <a:latin typeface="Aptos Mono"/>
                <a:ea typeface="Aptos Mono"/>
                <a:cs typeface="Aptos Mono"/>
              </a:rPr>
              <a:t>src/generation/sample_gru.py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E9A2FD-B0CA-4C87-9AA3-0E91A86E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23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1</a:t>
            </a:r>
          </a:p>
          <a:p xmlns:a="http://schemas.openxmlformats.org/drawingml/2006/main">
            <a:pPr algn="l">
              <a:def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2</a:t>
            </a:r>
          </a:p>
          <a:p xmlns:a="http://schemas.openxmlformats.org/drawingml/2006/main">
            <a:pPr algn="l">
              <a:def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3</a:t>
            </a:r>
          </a:p>
          <a:p xmlns:a="http://schemas.openxmlformats.org/drawingml/2006/main">
            <a:pPr algn="l">
              <a:def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4</a:t>
            </a:r>
          </a:p>
          <a:p xmlns:a="http://schemas.openxmlformats.org/drawingml/2006/main">
            <a:pPr algn="l">
              <a:def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5</a:t>
            </a:r>
          </a:p>
          <a:p xmlns:a="http://schemas.openxmlformats.org/drawingml/2006/main">
            <a:pPr algn="l">
              <a:def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6</a:t>
            </a:r>
          </a:p>
          <a:p xmlns:a="http://schemas.openxmlformats.org/drawingml/2006/main">
            <a:pPr algn="l">
              <a:def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7</a:t>
            </a:r>
          </a:p>
          <a:p xmlns:a="http://schemas.openxmlformats.org/drawingml/2006/main">
            <a:pPr algn="l">
              <a:def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8</a:t>
            </a:r>
          </a:p>
          <a:p xmlns:a="http://schemas.openxmlformats.org/drawingml/2006/main">
            <a:pPr algn="l">
              <a:def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9</a:t>
            </a:r>
          </a:p>
          <a:p xmlns:a="http://schemas.openxmlformats.org/drawingml/2006/main">
            <a:pPr algn="l">
              <a:def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10</a:t>
            </a:r>
          </a:p>
          <a:p xmlns:a="http://schemas.openxmlformats.org/drawingml/2006/main">
            <a:pPr algn="l">
              <a:def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11</a:t>
            </a:r>
          </a:p>
          <a:p xmlns:a="http://schemas.openxmlformats.org/drawingml/2006/main">
            <a:pPr algn="l">
              <a:def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12</a:t>
            </a:r>
          </a:p>
          <a:p xmlns:a="http://schemas.openxmlformats.org/drawingml/2006/main">
            <a:pPr algn="l">
              <a:def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13</a:t>
            </a:r>
          </a:p>
          <a:p xmlns:a="http://schemas.openxmlformats.org/drawingml/2006/main">
            <a:pPr algn="l">
              <a:def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14</a:t>
            </a:r>
          </a:p>
          <a:p xmlns:a="http://schemas.openxmlformats.org/drawingml/2006/main">
            <a:pPr algn="l">
              <a:def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85042-145B-47E8-B965-96D702E7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52650"/>
            <a:ext cx="58864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for chord in chords:</a:t>
            </a:r>
          </a:p>
          <a:p xmlns:a="http://schemas.openxmlformats.org/drawingml/2006/main">
            <a:pPr algn="l">
              <a:def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chord = chord if chord.startswith("CHORD_") else f"CHORD_{chord}"</a:t>
            </a:r>
          </a:p>
          <a:p xmlns:a="http://schemas.openxmlformats.org/drawingml/2006/main">
            <a:pPr algn="l">
              <a:def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generated.append(chord)</a:t>
            </a:r>
          </a:p>
          <a:p xmlns:a="http://schemas.openxmlformats.org/drawingml/2006/main">
            <a:pPr algn="l">
              <a:def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logits = feed(chord)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for _ in range(max_tokens_per_chord):</a:t>
            </a:r>
          </a:p>
          <a:p xmlns:a="http://schemas.openxmlformats.org/drawingml/2006/main">
            <a:pPr algn="l">
              <a:def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    next_id = sample_next(logits, vocab,</a:t>
            </a:r>
          </a:p>
          <a:p xmlns:a="http://schemas.openxmlformats.org/drawingml/2006/main">
            <a:pPr algn="l">
              <a:def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                          temperature=0.9, top_k=12)</a:t>
            </a:r>
          </a:p>
          <a:p xmlns:a="http://schemas.openxmlformats.org/drawingml/2006/main">
            <a:pPr algn="l">
              <a:def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    token = vocab.id_to_token[next_id]</a:t>
            </a:r>
          </a:p>
          <a:p xmlns:a="http://schemas.openxmlformats.org/drawingml/2006/main">
            <a:pPr algn="l">
              <a:def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    if token == END_TOKEN:</a:t>
            </a:r>
          </a:p>
          <a:p xmlns:a="http://schemas.openxmlformats.org/drawingml/2006/main">
            <a:pPr algn="l">
              <a:def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        token = BAR_TOKEN</a:t>
            </a:r>
          </a:p>
          <a:p xmlns:a="http://schemas.openxmlformats.org/drawingml/2006/main">
            <a:pPr algn="l">
              <a:def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    generated.append(token)</a:t>
            </a:r>
          </a:p>
          <a:p xmlns:a="http://schemas.openxmlformats.org/drawingml/2006/main">
            <a:pPr algn="l">
              <a:def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    logits = feed(token)</a:t>
            </a:r>
          </a:p>
          <a:p xmlns:a="http://schemas.openxmlformats.org/drawingml/2006/main">
            <a:pPr algn="l">
              <a:def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    if token == BAR_TOKEN:</a:t>
            </a:r>
          </a:p>
          <a:p xmlns:a="http://schemas.openxmlformats.org/drawingml/2006/main">
            <a:pPr algn="l">
              <a:def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        break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8CD58-72DC-422D-9671-0E87DA1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66950"/>
            <a:ext cx="36766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1C"/>
          </a:solidFill>
          <a:ln xmlns:a="http://schemas.openxmlformats.org/drawingml/2006/main" w="9525">
            <a:solidFill>
              <a:srgbClr val="2535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B983E-1587-4F53-8A48-BF17508A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66950"/>
            <a:ext cx="367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29"/>
          </a:solidFill>
          <a:ln xmlns:a="http://schemas.openxmlformats.org/drawingml/2006/main" w="0">
            <a:solidFill>
              <a:srgbClr val="1724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2080E-6EAC-439F-A7FC-3B1FF648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43150"/>
            <a:ext cx="3409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8FA29B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8FA29B"/>
                </a:solidFill>
                <a:latin typeface="Aptos Mono"/>
                <a:ea typeface="Aptos Mono"/>
                <a:cs typeface="Aptos Mono"/>
              </a:rPr>
              <a:t>src/evaluation/metrics.py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542EF-1B7D-4B57-B4F6-39C721B9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86050"/>
            <a:ext cx="3238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1</a:t>
            </a:r>
          </a:p>
          <a:p xmlns:a="http://schemas.openxmlformats.org/drawingml/2006/main">
            <a:pPr algn="l">
              <a:defRPr sz="990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2</a:t>
            </a:r>
          </a:p>
          <a:p xmlns:a="http://schemas.openxmlformats.org/drawingml/2006/main">
            <a:pPr algn="l">
              <a:defRPr sz="990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3</a:t>
            </a:r>
          </a:p>
          <a:p xmlns:a="http://schemas.openxmlformats.org/drawingml/2006/main">
            <a:pPr algn="l">
              <a:defRPr sz="990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4</a:t>
            </a:r>
          </a:p>
          <a:p xmlns:a="http://schemas.openxmlformats.org/drawingml/2006/main">
            <a:pPr algn="l">
              <a:defRPr sz="990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5</a:t>
            </a:r>
          </a:p>
          <a:p xmlns:a="http://schemas.openxmlformats.org/drawingml/2006/main">
            <a:pPr algn="l">
              <a:defRPr sz="990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6</a:t>
            </a:r>
          </a:p>
          <a:p xmlns:a="http://schemas.openxmlformats.org/drawingml/2006/main">
            <a:pPr algn="l">
              <a:defRPr sz="990" b="0">
                <a:solidFill>
                  <a:srgbClr val="B6842E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B6842E"/>
                </a:solidFill>
                <a:latin typeface="Aptos Mono"/>
                <a:ea typeface="Aptos Mono"/>
                <a:cs typeface="Aptos Mono"/>
              </a:rPr>
              <a:t> 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1014F-88C1-4C97-8AC6-50E87A0E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86050"/>
            <a:ext cx="30670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if token.startswith("CHORD_"):</a:t>
            </a:r>
          </a:p>
          <a:p xmlns:a="http://schemas.openxmlformats.org/drawingml/2006/main">
            <a:pPr algn="l">
              <a:defRPr sz="990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active_chord = token</a:t>
            </a:r>
          </a:p>
          <a:p xmlns:a="http://schemas.openxmlformats.org/drawingml/2006/main">
            <a:pPr algn="l">
              <a:defRPr sz="990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elif token.startswith("NOTE_") and active_chord:</a:t>
            </a:r>
          </a:p>
          <a:p xmlns:a="http://schemas.openxmlformats.org/drawingml/2006/main">
            <a:pPr algn="l">
              <a:defRPr sz="990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allowed = chord_pitch_classes(active_chord)</a:t>
            </a:r>
          </a:p>
          <a:p xmlns:a="http://schemas.openxmlformats.org/drawingml/2006/main">
            <a:pPr algn="l">
              <a:defRPr sz="990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checked += 1</a:t>
            </a:r>
          </a:p>
          <a:p xmlns:a="http://schemas.openxmlformats.org/drawingml/2006/main">
            <a:pPr algn="l">
              <a:defRPr sz="990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if pitch % 12 in allowed:</a:t>
            </a:r>
          </a:p>
          <a:p xmlns:a="http://schemas.openxmlformats.org/drawingml/2006/main">
            <a:pPr algn="l">
              <a:defRPr sz="990" b="0">
                <a:solidFill>
                  <a:srgbClr val="EAF0EC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EAF0EC"/>
                </a:solidFill>
                <a:latin typeface="Aptos Mono"/>
                <a:ea typeface="Aptos Mono"/>
                <a:cs typeface="Aptos Mono"/>
              </a:rPr>
              <a:t>        matching +=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4C139F-FF91-47C2-91AE-4058AF3C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38700"/>
            <a:ext cx="36766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6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88D557-E35D-4BA6-BB88-722FC461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72050"/>
            <a:ext cx="337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6C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6CC4"/>
                </a:solidFill>
                <a:latin typeface="Aptos"/>
                <a:ea typeface="Aptos"/>
                <a:cs typeface="Aptos"/>
              </a:rPr>
              <a:t>What to say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A3B313-F4B3-4989-BBCB-352CAFD9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238750"/>
            <a:ext cx="3371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The sampler controls harmony externally, while the evaluator checks whether generated notes fit the current chord.</a:t>
            </a:r>
          </a:p>
        </p:txBody>
      </p:sp>
    </p:spTree>
    <p:extLst>
      <p:ext uri="{BB962C8B-B14F-4D97-AF65-F5344CB8AC3E}">
        <p14:creationId xmlns:p14="http://schemas.microsoft.com/office/powerpoint/2010/main" val="77621816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76251A-27F2-4D98-91B1-E2DBDFD5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84D71-FF57-4423-86F4-278A5F44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42E"/>
          </a:solidFill>
          <a:ln xmlns:a="http://schemas.openxmlformats.org/drawingml/2006/main" w="0">
            <a:solidFill>
              <a:srgbClr val="B684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0B1B4-B5A7-4B18-BAD7-1E13067D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RELATED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D1515-8AB5-416E-97E8-92A5AEA6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The project follows symbolic music language modeling at an assignment-sized scale.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B10A5-6C08-4581-A2C3-593A7B0C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Sources: workbook.html, README.md, src/, figures/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214E8-A4FB-4648-A0FF-C9096C88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16/18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18662-F3E1-418F-BA69-8E114825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1917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D3094-9C22-48B2-B79C-A0E1DF46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19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6"/>
          </a:solidFill>
          <a:ln xmlns:a="http://schemas.openxmlformats.org/drawingml/2006/main" w="0">
            <a:solidFill>
              <a:srgbClr val="1423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E412E-F568-4881-9648-7E896AF1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22936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reference 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A0CED-6F84-4C53-BFA7-1549F04A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1828800"/>
            <a:ext cx="372046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what it contributes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89852-3495-4480-AF3E-CD6599C4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885" y="1828800"/>
            <a:ext cx="372046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8F2E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8F2E8"/>
                </a:solidFill>
                <a:latin typeface="Aptos"/>
                <a:ea typeface="Aptos"/>
                <a:cs typeface="Aptos"/>
              </a:rPr>
              <a:t>how this project differs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4CF14-331C-49FC-80DB-42BE88FA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55183-38D8-44DD-9B4F-0FE8F6AE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29362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Nottingham ABC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3D5FE-DA4A-4FA4-A67F-2AAC38C1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247900"/>
            <a:ext cx="372046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folk-tune corpus with symbolic melody and chords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EA56F-FF85-48D7-817A-DF7A58E1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885" y="2247900"/>
            <a:ext cx="372046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used directly for two task views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EBD71-99B6-45E9-8691-00D88DD8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19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7FBEF-2EEE-4885-BD6A-CE281EB4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525E0-A393-41EC-B12B-E0DB62E1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229362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Eck &amp; Schmidhuber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41BF0C-668A-4B9B-91DF-E9BDC980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971800"/>
            <a:ext cx="372046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recurrent networks can learn musical temporal structure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51C0A4-C44B-4B75-B632-F5E8E938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885" y="2971800"/>
            <a:ext cx="372046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GRU is smaller and trained from scratch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2F84D-CC4B-4146-9866-AE51C8C8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0D124E-C737-415E-9D6B-51E254F1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29362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Boulanger-Lewandowski et 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7BB5CF-CDA0-40E7-82B4-065383A3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3695700"/>
            <a:ext cx="372046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probabilistic symbolic sequence modeling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9E7FFA-73FE-4B63-A7C1-8EAEF29D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885" y="3695700"/>
            <a:ext cx="372046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monophonic folk melody, not polyphonic piano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24BD9C-10DE-41F1-B5DB-5F248751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19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3A3973-8D91-405D-9397-63903689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D7D0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6C8BC5-3909-421C-9D14-75CC75D7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229362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Music Transformer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0520B1-825D-4085-B5AD-873B3CF9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4419600"/>
            <a:ext cx="372046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attention improves long-range musical structure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A9A333-B674-46EA-B124-71240C14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885" y="4419600"/>
            <a:ext cx="372046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not used because compute/complexity is higher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867DB2-C8AC-4827-8B0C-0300959B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19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3C9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2E78F5-ACBC-452D-9FE4-3E7DEC9D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72100"/>
            <a:ext cx="988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842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842E"/>
                </a:solidFill>
                <a:latin typeface="Aptos"/>
                <a:ea typeface="Aptos"/>
                <a:cs typeface="Aptos"/>
              </a:rPr>
              <a:t>Positioning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E4659C-EEC9-499A-84E1-10CDBA4D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988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The contribution is not a new state-of-the-art model. It is a complete, auditable pipeline that fits the assignment requirement to train model weights on a selected dataset.</a:t>
            </a:r>
          </a:p>
        </p:txBody>
      </p:sp>
    </p:spTree>
    <p:extLst>
      <p:ext uri="{BB962C8B-B14F-4D97-AF65-F5344CB8AC3E}">
        <p14:creationId xmlns:p14="http://schemas.microsoft.com/office/powerpoint/2010/main" val="64213605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A9528F-0853-429D-B6B3-F93FF876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CEAF6-3551-40BD-BBF6-06C7F329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745"/>
          </a:solidFill>
          <a:ln xmlns:a="http://schemas.openxmlformats.org/drawingml/2006/main" w="0">
            <a:solidFill>
              <a:srgbClr val="C657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C9E9A-2D75-42C6-B9D2-77D11421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5"/>
                </a:solidFill>
                <a:latin typeface="Aptos"/>
                <a:ea typeface="Aptos"/>
                <a:cs typeface="Aptos"/>
              </a:rPr>
              <a:t>LIMITS AND EXTENSIONS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8BCF0-0A17-4817-8881-9FF7A871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5"/>
                </a:solidFill>
                <a:latin typeface="Aptos Display"/>
                <a:ea typeface="Aptos Display"/>
                <a:cs typeface="Aptos Display"/>
              </a:rPr>
              <a:t>The main gap is between token prediction and musical form.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2FA3F-ECD4-497C-88A5-262371CE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Sources: workbook.html, README.md, src/, figures/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F3FD7-6DEF-453F-9DEA-7EE042B5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17/18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2024B-406D-44A9-A27F-350336A9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457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08863-9193-414A-A90F-5A2C4BBF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28800"/>
            <a:ext cx="426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B"/>
                </a:solidFill>
                <a:latin typeface="Aptos"/>
                <a:ea typeface="Aptos"/>
                <a:cs typeface="Aptos"/>
              </a:rPr>
              <a:t>Perplexity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629BC-BEB5-4EF3-8076-494995F8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26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Useful for held-out token likelihood; weak proxy for beauty.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CF295-C441-4EB9-A024-FC57B14A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457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A1388-F2AF-4E83-A036-DDB4B6CA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426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6C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6CC4"/>
                </a:solidFill>
                <a:latin typeface="Aptos"/>
                <a:ea typeface="Aptos"/>
                <a:cs typeface="Aptos"/>
              </a:rPr>
              <a:t>Chord-tone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B3018-2B41-4D46-A292-CBEE5FE8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426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Good sanity check; can penalize valid passing tones.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2915C-C0FD-4D8E-8999-251AE466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457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DB008-BD70-44AF-8465-6D7F3316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426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842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842E"/>
                </a:solidFill>
                <a:latin typeface="Aptos"/>
                <a:ea typeface="Aptos"/>
                <a:cs typeface="Aptos"/>
              </a:rPr>
              <a:t>Duration diversity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5B399A-86A3-4F66-83C5-CE5DCC4C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426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Task 1 favors common short durations.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CFB766-3FDF-42DD-85E1-9C8E1B81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457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D24AA-F3A2-42E3-9D20-02D58E5C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426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574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65745"/>
                </a:solidFill>
                <a:latin typeface="Aptos"/>
                <a:ea typeface="Aptos"/>
                <a:cs typeface="Aptos"/>
              </a:rPr>
              <a:t>Global form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06D8BA-F465-4EC1-BCB6-45D6B573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426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25"/>
                </a:solidFill>
                <a:latin typeface="Aptos"/>
                <a:ea typeface="Aptos"/>
                <a:cs typeface="Aptos"/>
              </a:rPr>
              <a:t>Samples are phrase-length, not full compositions with development.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B92852-C12C-410C-A2BD-8A897916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44767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6"/>
          </a:solidFill>
          <a:ln xmlns:a="http://schemas.openxmlformats.org/drawingml/2006/main" w="9525">
            <a:solidFill>
              <a:srgbClr val="1423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E95607-F221-4CB9-9963-141E0CD2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336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9E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9EC"/>
                </a:solidFill>
                <a:latin typeface="Aptos Display"/>
                <a:ea typeface="Aptos Display"/>
                <a:cs typeface="Aptos Display"/>
              </a:rPr>
              <a:t>Next steps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A247AF-EED2-477A-A068-CFC9D43F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36195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EF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EFEA"/>
                </a:solidFill>
                <a:latin typeface="Aptos"/>
                <a:ea typeface="Aptos"/>
                <a:cs typeface="Aptos"/>
              </a:rPr>
              <a:t>- add phrase-level constraints or section tokens</a:t>
            </a:r>
          </a:p>
          <a:p xmlns:a="http://schemas.openxmlformats.org/drawingml/2006/main">
            <a:pPr algn="l">
              <a:defRPr sz="1425" b="0">
                <a:solidFill>
                  <a:srgbClr val="E7EF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EFEA"/>
                </a:solidFill>
                <a:latin typeface="Aptos"/>
                <a:ea typeface="Aptos"/>
                <a:cs typeface="Aptos"/>
              </a:rPr>
              <a:t>- evaluate with listener ratings</a:t>
            </a:r>
          </a:p>
          <a:p xmlns:a="http://schemas.openxmlformats.org/drawingml/2006/main">
            <a:pPr algn="l">
              <a:defRPr sz="1425" b="0">
                <a:solidFill>
                  <a:srgbClr val="E7EF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EFEA"/>
                </a:solidFill>
                <a:latin typeface="Aptos"/>
                <a:ea typeface="Aptos"/>
                <a:cs typeface="Aptos"/>
              </a:rPr>
              <a:t>- try transformer/self-attention for longer form</a:t>
            </a:r>
          </a:p>
          <a:p xmlns:a="http://schemas.openxmlformats.org/drawingml/2006/main">
            <a:pPr algn="l">
              <a:defRPr sz="1425" b="0">
                <a:solidFill>
                  <a:srgbClr val="E7EF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EFEA"/>
                </a:solidFill>
                <a:latin typeface="Aptos"/>
                <a:ea typeface="Aptos"/>
                <a:cs typeface="Aptos"/>
              </a:rPr>
              <a:t>- condition on meter, key, or style tags</a:t>
            </a:r>
          </a:p>
          <a:p xmlns:a="http://schemas.openxmlformats.org/drawingml/2006/main">
            <a:pPr algn="l">
              <a:defRPr sz="1425" b="0">
                <a:solidFill>
                  <a:srgbClr val="E7EF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EFEA"/>
                </a:solidFill>
                <a:latin typeface="Aptos"/>
                <a:ea typeface="Aptos"/>
                <a:cs typeface="Aptos"/>
              </a:rPr>
              <a:t>- compare against generated MIDI playback directly</a:t>
            </a:r>
          </a:p>
        </p:txBody>
      </p:sp>
    </p:spTree>
    <p:extLst>
      <p:ext uri="{BB962C8B-B14F-4D97-AF65-F5344CB8AC3E}">
        <p14:creationId xmlns:p14="http://schemas.microsoft.com/office/powerpoint/2010/main" val="27252006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03556F-05A4-405B-B0E3-44C180B7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6"/>
          </a:solidFill>
          <a:ln xmlns:a="http://schemas.openxmlformats.org/drawingml/2006/main" w="0">
            <a:solidFill>
              <a:srgbClr val="14232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27DEA-FC45-48E9-884B-02D8DA22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42E"/>
          </a:solidFill>
          <a:ln xmlns:a="http://schemas.openxmlformats.org/drawingml/2006/main" w="0">
            <a:solidFill>
              <a:srgbClr val="B684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4F44D-406F-434F-A619-621FC7F5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EF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EFEA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628D9-6537-43AC-890F-6C7618AA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2E8"/>
                </a:solidFill>
                <a:latin typeface="Aptos Display"/>
                <a:ea typeface="Aptos Display"/>
                <a:cs typeface="Aptos Display"/>
              </a:rPr>
              <a:t>Play the music after the rubric content, but keep the total recording under 21 minutes.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53E6D-A1F0-4CE1-9270-57B288E3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Final files: workbook.html, video_url.txt, symbolic_unconditioned.mid, symbolic_conditioned.mid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95526-750B-4AA9-B070-B963007F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18/18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972DC-B7B2-4CAC-8A57-6497B927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9E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9EC"/>
                </a:solidFill>
                <a:latin typeface="Aptos Display"/>
                <a:ea typeface="Aptos Display"/>
                <a:cs typeface="Aptos Display"/>
              </a:rPr>
              <a:t>Three takeaways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C060D-D95B-425F-A9F6-1CE4446F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0B2C0-FF87-43B4-9A88-CD5FFB6E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9E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9E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14027-A9E1-4B1C-B168-1B6F7494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504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7EFE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7EFEA"/>
                </a:solidFill>
                <a:latin typeface="Aptos"/>
                <a:ea typeface="Aptos"/>
                <a:cs typeface="Aptos"/>
              </a:rPr>
              <a:t>Tokenization makes notes, rhythms, bars, and chords explicit.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6F4A93-108C-4AD1-9004-D5A6F069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BBCEE-82E5-4F0B-B2EA-370C5A07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9E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9E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CA74A-3416-411A-B1F7-9961D54E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81350"/>
            <a:ext cx="504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7EFE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7EFEA"/>
                </a:solidFill>
                <a:latin typeface="Aptos"/>
                <a:ea typeface="Aptos"/>
                <a:cs typeface="Aptos"/>
              </a:rPr>
              <a:t>The GRU beats a trigram baseline on validation perplexity.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6508-A7EA-44C2-87E9-3505D5F3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4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B1F95D-83BB-46D7-9EBA-530C0274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9E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9E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30D34B-CEBC-4E60-B86D-B537964A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62400"/>
            <a:ext cx="504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7EFE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7EFEA"/>
                </a:solidFill>
                <a:latin typeface="Aptos"/>
                <a:ea typeface="Aptos"/>
                <a:cs typeface="Aptos"/>
              </a:rPr>
              <a:t>The conditioned model shows measurable harmonic alignment.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811D0F-B09E-449E-B767-D89F569D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38300"/>
            <a:ext cx="36195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FFF9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B782EA-607E-44FB-9341-A71E705D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431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3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42326"/>
                </a:solidFill>
                <a:latin typeface="Aptos Display"/>
                <a:ea typeface="Aptos Display"/>
                <a:cs typeface="Aptos Display"/>
              </a:rPr>
              <a:t>Playback cue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DE086C-1DEE-4975-A7EE-53EFF65F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14600"/>
            <a:ext cx="2781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5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72025"/>
                </a:solidFill>
                <a:latin typeface="Aptos Mono"/>
                <a:ea typeface="Aptos Mono"/>
                <a:cs typeface="Aptos Mono"/>
              </a:rPr>
              <a:t>1. symbolic_unconditioned.mid</a:t>
            </a:r>
          </a:p>
          <a:p xmlns:a="http://schemas.openxmlformats.org/drawingml/2006/main">
            <a:pPr algn="l">
              <a:defRPr sz="1500" b="0">
                <a:solidFill>
                  <a:srgbClr val="172025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72025"/>
                </a:solidFill>
                <a:latin typeface="Aptos Mono"/>
                <a:ea typeface="Aptos Mono"/>
                <a:cs typeface="Aptos Mono"/>
              </a:rPr>
              <a:t>   44.0 sec, 158 note_on events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025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72025"/>
                </a:solidFill>
                <a:latin typeface="Aptos Mono"/>
                <a:ea typeface="Aptos Mono"/>
                <a:cs typeface="Aptos Mono"/>
              </a:rPr>
              <a:t>2. symbolic_conditioned.mid</a:t>
            </a:r>
          </a:p>
          <a:p xmlns:a="http://schemas.openxmlformats.org/drawingml/2006/main">
            <a:pPr algn="l">
              <a:defRPr sz="1500" b="0">
                <a:solidFill>
                  <a:srgbClr val="172025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72025"/>
                </a:solidFill>
                <a:latin typeface="Aptos Mono"/>
                <a:ea typeface="Aptos Mono"/>
                <a:cs typeface="Aptos Mono"/>
              </a:rPr>
              <a:t>   32.0 sec, 63 note_on events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9D5818-8752-4F86-AADB-95B87430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291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1706E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1706E"/>
                </a:solidFill>
                <a:latin typeface="Aptos"/>
                <a:ea typeface="Aptos"/>
                <a:cs typeface="Aptos"/>
              </a:rPr>
              <a:t>Suggested recording move: play 15-20 seconds of each file, then tell graders the full files are submitted separately.</a:t>
            </a:r>
          </a:p>
        </p:txBody>
      </p:sp>
    </p:spTree>
    <p:extLst>
      <p:ext uri="{BB962C8B-B14F-4D97-AF65-F5344CB8AC3E}">
        <p14:creationId xmlns:p14="http://schemas.microsoft.com/office/powerpoint/2010/main" val="8838763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2026-05-31T21:56:14.1550000Z</dcterms:created>
  <dcterms:modified xsi:type="dcterms:W3CDTF">2026-05-31T21:56:14.1550000Z</dcterms:modified>
</coreProperties>
</file>